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AddvwMyX5uhYpBdGsAFhiw/+j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11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31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2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3.jpg"/><Relationship Id="rId5" Type="http://schemas.openxmlformats.org/officeDocument/2006/relationships/image" Target="../media/image20.png"/><Relationship Id="rId6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2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685800" y="173736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US" sz="4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Elijah Whiting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685800" y="280720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US" sz="1800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Xcimer Pulsed Power Manufacturing Engineer Interview</a:t>
            </a:r>
            <a:endParaRPr/>
          </a:p>
        </p:txBody>
      </p:sp>
      <p:sp>
        <p:nvSpPr>
          <p:cNvPr id="56" name="Google Shape;56;p1"/>
          <p:cNvSpPr txBox="1"/>
          <p:nvPr>
            <p:ph type="ctrTitle"/>
          </p:nvPr>
        </p:nvSpPr>
        <p:spPr>
          <a:xfrm>
            <a:off x="731725" y="4286252"/>
            <a:ext cx="77724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588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</a:rPr>
              <a:t>Content written by me, design reformatted for simplicity by Claude: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88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</a:rPr>
              <a:t>Original PowerPoint + prompts available on my GitHub as “Presentation-Original”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806440" y="1097280"/>
            <a:ext cx="2880360" cy="2697480"/>
          </a:xfrm>
          <a:prstGeom prst="roundRect">
            <a:avLst>
              <a:gd fmla="val 2711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489204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188720"/>
            <a:ext cx="50749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Chemical Engineer, Widener University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Process engineering, Carpenter Company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Arial"/>
              <a:buChar char="–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Polyurethane foam manufacturer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Arial"/>
              <a:buChar char="–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Team of 3 engineers + 8 operators: tens of millions $/yr at one facility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Arial"/>
              <a:buChar char="–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60+ facilities worldwide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Arial"/>
              <a:buChar char="–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Developed Python-based scheduling algorithm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Arial"/>
              <a:buChar char="–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Taken over by corporate for further development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Arial"/>
              <a:buChar char="–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Projected ~$200K/yr savings: throughput volume, conservative reduction targets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6053328" y="1298448"/>
            <a:ext cx="2468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80" u="none" cap="none" strike="noStrike">
                <a:solidFill>
                  <a:srgbClr val="9AA3B2"/>
                </a:solidFill>
                <a:latin typeface="Arial"/>
                <a:ea typeface="Arial"/>
                <a:cs typeface="Arial"/>
                <a:sym typeface="Arial"/>
              </a:rPr>
              <a:t>(Github.com/Elijah-w15)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Automatch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Catalyst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Enzyme project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Senior capstone project</a:t>
            </a:r>
            <a:endParaRPr/>
          </a:p>
          <a:p>
            <a:pPr indent="-219456" lvl="0" marL="219456" marR="0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Hardware passion project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320"/>
            <a:ext cx="5257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PRESENTATION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Carpenter scheduling algorithm</a:t>
            </a:r>
            <a:endParaRPr/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457200" y="1170432"/>
            <a:ext cx="521208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Making foam: continuous process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2 main reactions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Job: monitor quality, root cause issues, adjust reactions, work with operators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Time to reach steady state drives waste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Density, height, width, color also affect waste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Biggest waste driver: schedule sequencing inefficiencies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Conservative target, already proven at other plants </a:t>
            </a:r>
            <a:r>
              <a:rPr b="0" lang="en-US" sz="1170">
                <a:solidFill>
                  <a:srgbClr val="9AA3B2"/>
                </a:solidFill>
                <a:latin typeface="Arial"/>
                <a:ea typeface="Arial"/>
                <a:cs typeface="Arial"/>
                <a:sym typeface="Arial"/>
              </a:rPr>
              <a:t>(trim %)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Traveling salesman problem </a:t>
            </a:r>
            <a:r>
              <a:rPr b="0" lang="en-US" sz="1170">
                <a:solidFill>
                  <a:srgbClr val="9AA3B2"/>
                </a:solidFill>
                <a:latin typeface="Arial"/>
                <a:ea typeface="Arial"/>
                <a:cs typeface="Arial"/>
                <a:sym typeface="Arial"/>
              </a:rPr>
              <a:t>(cost per transition)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Systemized tribal knowledge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Hand coded: locked down environment, no library access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Handed to corporate for further development (libraries I couldn’t access)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IP free version on my GitHub: Weighted-Sorting-Greedy-Algorithm</a:t>
            </a:r>
            <a:endParaRPr/>
          </a:p>
        </p:txBody>
      </p:sp>
      <p:pic>
        <p:nvPicPr>
          <p:cNvPr id="71" name="Google Shape;71;p3" title="paint-online-free.png"/>
          <p:cNvPicPr preferRelativeResize="0"/>
          <p:nvPr/>
        </p:nvPicPr>
        <p:blipFill rotWithShape="1">
          <a:blip r:embed="rId3">
            <a:alphaModFix/>
          </a:blip>
          <a:srcRect b="55797" l="23514" r="32280" t="3350"/>
          <a:stretch/>
        </p:blipFill>
        <p:spPr>
          <a:xfrm>
            <a:off x="5897880" y="320040"/>
            <a:ext cx="2788920" cy="1610864"/>
          </a:xfrm>
          <a:prstGeom prst="roundRect">
            <a:avLst>
              <a:gd fmla="val 3973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PRESENTATION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Automatch</a:t>
            </a:r>
            <a:endParaRPr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457200" y="1188720"/>
            <a:ext cx="38404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How I found this opportunity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Custom job scraper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Define the metrics you care about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Scrapes + grades with a local AI via Ollama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Top 10 matches (+ wild card) by rubric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Custom setup wizard; Docker checks + downloads dependencies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Open source on my GitHub</a:t>
            </a:r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280" y="1234440"/>
            <a:ext cx="4160520" cy="2340292"/>
          </a:xfrm>
          <a:prstGeom prst="roundRect">
            <a:avLst>
              <a:gd fmla="val 2735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457200" y="2743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PRESENTATION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Enzyme project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57200" y="1170432"/>
            <a:ext cx="402336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Burning organic matter can form PAHs; if inhaled, they can aggregate in the lungs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PAHs: tarry, non-polar compounds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Problem: convert PAHs into something soluble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P450 + GST enzymes combined: theoretically, something the body can naturally excrete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Modeled binding energy: PyMOL + AutoDock Vina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Next: water free tunnel (CAVER + Rosetta) to connect the 2 enzymes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Tryptophan synthase does this naturally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H2O2 needed to replace the P450’s oxygen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Further development: wet lab validation required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SSD corrupted, development stopped</a:t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320040"/>
            <a:ext cx="3977640" cy="82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3386037"/>
            <a:ext cx="3977640" cy="954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1228348"/>
            <a:ext cx="3977640" cy="734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5887" y="2045516"/>
            <a:ext cx="1258226" cy="1258226"/>
          </a:xfrm>
          <a:prstGeom prst="roundRect">
            <a:avLst>
              <a:gd fmla="val 5087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5"/>
          <p:cNvPicPr preferRelativeResize="0"/>
          <p:nvPr/>
        </p:nvPicPr>
        <p:blipFill rotWithShape="1">
          <a:blip r:embed="rId7">
            <a:alphaModFix/>
          </a:blip>
          <a:srcRect b="0" l="17944" r="9408" t="3855"/>
          <a:stretch/>
        </p:blipFill>
        <p:spPr>
          <a:xfrm>
            <a:off x="4709160" y="2045516"/>
            <a:ext cx="1444431" cy="1258226"/>
          </a:xfrm>
          <a:prstGeom prst="roundRect">
            <a:avLst>
              <a:gd fmla="val 5087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5"/>
          <p:cNvPicPr preferRelativeResize="0"/>
          <p:nvPr/>
        </p:nvPicPr>
        <p:blipFill rotWithShape="1">
          <a:blip r:embed="rId8">
            <a:alphaModFix/>
          </a:blip>
          <a:srcRect b="0" l="13794" r="3704" t="0"/>
          <a:stretch/>
        </p:blipFill>
        <p:spPr>
          <a:xfrm>
            <a:off x="7576409" y="2045516"/>
            <a:ext cx="1110391" cy="1258226"/>
          </a:xfrm>
          <a:prstGeom prst="roundRect">
            <a:avLst>
              <a:gd fmla="val 5764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457200" y="27432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PRESENTATION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Catalyst </a:t>
            </a:r>
            <a:r>
              <a:rPr b="0" lang="en-US" sz="1488">
                <a:solidFill>
                  <a:srgbClr val="9AA3B2"/>
                </a:solidFill>
                <a:latin typeface="Arial"/>
                <a:ea typeface="Arial"/>
                <a:cs typeface="Arial"/>
                <a:sym typeface="Arial"/>
              </a:rPr>
              <a:t>(Catalystranked.com)</a:t>
            </a:r>
            <a:endParaRPr/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457200" y="1170432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Stock pick social media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Helps investors realize the opportunity cost of their picks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Phi: like alpha, but expressed as a multiple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Leaderboard: picked stock performance vs the S&amp;P 500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Must cite reasons (pressures), not just “up and to the right”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AI news processing pipeline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Tracks interest rate, CPI data, US bond market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AI soundness rating for each cited pressure + what could derail it; monitors news to adjust the score (does not affect rank)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Alpaca + IBKR brokerage connections (paper accounts)</a:t>
            </a:r>
            <a:endParaRPr/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320040"/>
            <a:ext cx="2971800" cy="2150387"/>
          </a:xfrm>
          <a:prstGeom prst="roundRect">
            <a:avLst>
              <a:gd fmla="val 2976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6028944" y="3675888"/>
            <a:ext cx="2657856" cy="1152144"/>
          </a:xfrm>
          <a:prstGeom prst="roundRect">
            <a:avLst>
              <a:gd fmla="val 6349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243072" y="3675888"/>
            <a:ext cx="2657856" cy="1152144"/>
          </a:xfrm>
          <a:prstGeom prst="roundRect">
            <a:avLst>
              <a:gd fmla="val 6349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3675888"/>
            <a:ext cx="2657856" cy="1152144"/>
          </a:xfrm>
          <a:prstGeom prst="roundRect">
            <a:avLst>
              <a:gd fmla="val 6349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028944" y="2395728"/>
            <a:ext cx="2657856" cy="1152144"/>
          </a:xfrm>
          <a:prstGeom prst="roundRect">
            <a:avLst>
              <a:gd fmla="val 6349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243072" y="2395728"/>
            <a:ext cx="2657856" cy="1152144"/>
          </a:xfrm>
          <a:prstGeom prst="roundRect">
            <a:avLst>
              <a:gd fmla="val 6349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57200" y="2395728"/>
            <a:ext cx="2657856" cy="1152144"/>
          </a:xfrm>
          <a:prstGeom prst="roundRect">
            <a:avLst>
              <a:gd fmla="val 6349" name="adj"/>
            </a:avLst>
          </a:prstGeom>
          <a:solidFill>
            <a:srgbClr val="1A1F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 txBox="1"/>
          <p:nvPr>
            <p:ph type="title"/>
          </p:nvPr>
        </p:nvSpPr>
        <p:spPr>
          <a:xfrm>
            <a:off x="457200" y="274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PRESENTATION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Senior Capstone Project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457200" y="1170432"/>
            <a:ext cx="3886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Published peer reviewed work: scientific journal “Molecules”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CDI desalinates water using only electricity + a renewable carbon source</a:t>
            </a:r>
            <a:endParaRPr/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2382" y="347472"/>
            <a:ext cx="1744418" cy="1072024"/>
          </a:xfrm>
          <a:prstGeom prst="roundRect">
            <a:avLst>
              <a:gd fmla="val 597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device with wires and a container with liquid&#10;&#10;AI-generated content may be incorrect."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347472"/>
            <a:ext cx="2306374" cy="1072024"/>
          </a:xfrm>
          <a:prstGeom prst="roundRect">
            <a:avLst>
              <a:gd fmla="val 597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" name="Google Shape;112;p7"/>
          <p:cNvSpPr txBox="1"/>
          <p:nvPr/>
        </p:nvSpPr>
        <p:spPr>
          <a:xfrm>
            <a:off x="457200" y="21031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585216" y="2487168"/>
            <a:ext cx="2401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Start with algae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CFD8"/>
                </a:solidFill>
                <a:latin typeface="Arial"/>
                <a:ea typeface="Arial"/>
                <a:cs typeface="Arial"/>
                <a:sym typeface="Arial"/>
              </a:rPr>
              <a:t>Renewable carbon source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3371088" y="2487168"/>
            <a:ext cx="2401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Heat with water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CFD8"/>
                </a:solidFill>
                <a:latin typeface="Arial"/>
                <a:ea typeface="Arial"/>
                <a:cs typeface="Arial"/>
                <a:sym typeface="Arial"/>
              </a:rPr>
              <a:t>250 °C in a sealed hydrothermal reactor: carbonizes the algae, water pulls out polar impurities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6156960" y="2487168"/>
            <a:ext cx="2401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Heat again under nitrogen to carbonize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CFD8"/>
                </a:solidFill>
                <a:latin typeface="Arial"/>
                <a:ea typeface="Arial"/>
                <a:cs typeface="Arial"/>
                <a:sym typeface="Arial"/>
              </a:rPr>
              <a:t>Tar to 800 °C under nitrogen, so the carbon doesn’t combust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585216" y="3767328"/>
            <a:ext cx="2401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Activate with KOH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CFD8"/>
                </a:solidFill>
                <a:latin typeface="Arial"/>
                <a:ea typeface="Arial"/>
                <a:cs typeface="Arial"/>
                <a:sym typeface="Arial"/>
              </a:rPr>
              <a:t>Potassium hydroxide, 1000 °C under nitrogen: network of tiny pores, high surface area to hold ions (1,747 m²/g of carbon ~⅓ of a football field)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3371088" y="3767328"/>
            <a:ext cx="2401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Coat it onto electrodes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CFD8"/>
                </a:solidFill>
                <a:latin typeface="Arial"/>
                <a:ea typeface="Arial"/>
                <a:cs typeface="Arial"/>
                <a:sym typeface="Arial"/>
              </a:rPr>
              <a:t>Organic slurry coated onto graphite sheets, evaporated to form the electrodes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6156960" y="3767328"/>
            <a:ext cx="2401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Run the cell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CFD8"/>
                </a:solidFill>
                <a:latin typeface="Arial"/>
                <a:ea typeface="Arial"/>
                <a:cs typeface="Arial"/>
                <a:sym typeface="Arial"/>
              </a:rPr>
              <a:t>Ion-exchange membranes; salt water through the middle channel; low voltage pulls ions into the activated carbon electrodes; flip voltage to clean for reuse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457200" y="118872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Performance prop similar to juggling, fire staffs or poi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POV display functionality: paints an image in the air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Something I wanted to exist that didn’t</a:t>
            </a:r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012" y="2560320"/>
            <a:ext cx="2240280" cy="2240280"/>
          </a:xfrm>
          <a:prstGeom prst="roundRect">
            <a:avLst>
              <a:gd fmla="val 2857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2468" y="2560320"/>
            <a:ext cx="1493520" cy="2240280"/>
          </a:xfrm>
          <a:prstGeom prst="roundRect">
            <a:avLst>
              <a:gd fmla="val 4285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320040"/>
            <a:ext cx="2331720" cy="1748790"/>
          </a:xfrm>
          <a:prstGeom prst="roundRect">
            <a:avLst>
              <a:gd fmla="val 366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6">
            <a:alphaModFix/>
          </a:blip>
          <a:srcRect b="25916" l="30466" r="17499" t="19786"/>
          <a:stretch/>
        </p:blipFill>
        <p:spPr>
          <a:xfrm>
            <a:off x="5255125" y="2560320"/>
            <a:ext cx="1610183" cy="2240280"/>
          </a:xfrm>
          <a:prstGeom prst="roundRect">
            <a:avLst>
              <a:gd fmla="val 3975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7">
            <a:alphaModFix/>
          </a:blip>
          <a:srcRect b="0" l="19190" r="19479" t="1507"/>
          <a:stretch/>
        </p:blipFill>
        <p:spPr>
          <a:xfrm>
            <a:off x="3025452" y="2560320"/>
            <a:ext cx="2092513" cy="2240280"/>
          </a:xfrm>
          <a:prstGeom prst="roundRect">
            <a:avLst>
              <a:gd fmla="val 3058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8"/>
          <p:cNvSpPr txBox="1"/>
          <p:nvPr>
            <p:ph type="title"/>
          </p:nvPr>
        </p:nvSpPr>
        <p:spPr>
          <a:xfrm>
            <a:off x="457200" y="274320"/>
            <a:ext cx="393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PRESENTATION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</a:rPr>
              <a:t>Hardware Project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457200" y="489204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Why Xcimer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457200" y="1170432"/>
            <a:ext cx="59893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Livermore’s NIF proved a fusion shot can release more energy than its laser delivers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Bigger, more efficient laser: same approach could produce net positive power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 believe Xcimer’s work is necessary to advance civilization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Always interested in cutting edge science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Process engineering: root cause analysis on parts from manufacturers (what failed, why, how to prevent it)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Fast paced, tight loop between build and test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Enjoy learning; could grow and develop here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 better future with this technology than without; I’d love to be part of this ambitious project</a:t>
            </a: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822960"/>
            <a:ext cx="1874520" cy="2584662"/>
          </a:xfrm>
          <a:prstGeom prst="roundRect">
            <a:avLst>
              <a:gd fmla="val 3414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9"/>
          <p:cNvSpPr txBox="1"/>
          <p:nvPr/>
        </p:nvSpPr>
        <p:spPr>
          <a:xfrm>
            <a:off x="6812280" y="3480774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Arial"/>
                <a:ea typeface="Arial"/>
                <a:cs typeface="Arial"/>
                <a:sym typeface="Arial"/>
              </a:rPr>
              <a:t>(HYLIFE reactor)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57200" y="27432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What is it?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457200" y="1170432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700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Hardware passion project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34 LEDs per handle, driven by ESP32s + an IMU, for POV effects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Development in progress; 100% mine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Iterative design process</a:t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25916" l="30466" r="17499" t="19786"/>
          <a:stretch/>
        </p:blipFill>
        <p:spPr>
          <a:xfrm>
            <a:off x="5493715" y="320040"/>
            <a:ext cx="3187506" cy="4434840"/>
          </a:xfrm>
          <a:prstGeom prst="roundRect">
            <a:avLst>
              <a:gd fmla="val 2008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 b="56961" l="26809" r="31793" t="0"/>
          <a:stretch/>
        </p:blipFill>
        <p:spPr>
          <a:xfrm>
            <a:off x="457200" y="3017520"/>
            <a:ext cx="2250780" cy="1783080"/>
          </a:xfrm>
          <a:prstGeom prst="roundRect">
            <a:avLst>
              <a:gd fmla="val 3589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10"/>
          <p:cNvPicPr preferRelativeResize="0"/>
          <p:nvPr/>
        </p:nvPicPr>
        <p:blipFill rotWithShape="1">
          <a:blip r:embed="rId5">
            <a:alphaModFix/>
          </a:blip>
          <a:srcRect b="12867" l="16216" r="13554" t="11758"/>
          <a:stretch/>
        </p:blipFill>
        <p:spPr>
          <a:xfrm>
            <a:off x="2845140" y="3017520"/>
            <a:ext cx="1661369" cy="1783080"/>
          </a:xfrm>
          <a:prstGeom prst="roundRect">
            <a:avLst>
              <a:gd fmla="val 3852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457200" y="274320"/>
            <a:ext cx="5577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Material choice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457200" y="1170432"/>
            <a:ext cx="553212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Wanted to 3D print prototypes for fast development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Needed a strong material: survive repeated impact, maintain shape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Carbon fiber nylon vs PET CF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Went with carbon fiber nylon for impact resistance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SzPts val="1800"/>
              <a:buNone/>
            </a:pPr>
            <a:r>
              <a:rPr b="1" lang="en-US" sz="1300">
                <a:solidFill>
                  <a:srgbClr val="F5A65B"/>
                </a:solidFill>
                <a:latin typeface="Arial"/>
                <a:ea typeface="Arial"/>
                <a:cs typeface="Arial"/>
                <a:sym typeface="Arial"/>
              </a:rPr>
              <a:t>Issue: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Handling can leave small fibers that irritate skin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Carbon fiber absorbs water, swells if not sealed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SzPts val="1800"/>
              <a:buNone/>
            </a:pPr>
            <a:r>
              <a:rPr b="1" lang="en-US" sz="1300">
                <a:solidFill>
                  <a:srgbClr val="5ED3B4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CA glue fresh after printing (wicks into layer lines) → sand smooth → wipe on polyurethane → carnauba wax coating for scratch resistance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Use carbon fiber nylon for its strength, engineer around its weaknesses</a:t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320040"/>
            <a:ext cx="2377440" cy="3322276"/>
          </a:xfrm>
          <a:prstGeom prst="roundRect">
            <a:avLst>
              <a:gd fmla="val 2692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457200" y="27432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Early development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457200" y="1170432"/>
            <a:ext cx="60350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Knew the general shape and feel I wanted, but there’s an issue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Traditional balisongs: blade portion runs the entire spine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Need room for electronic components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Throws off the weight distribution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5ED3B4"/>
                </a:solidFill>
                <a:latin typeface="Arial"/>
                <a:ea typeface="Arial"/>
                <a:cs typeface="Arial"/>
                <a:sym typeface="Arial"/>
              </a:rPr>
              <a:t>Solution?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Tungsten loaded epoxy as the blade portion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Counterbalances the handle batteries; center of mass toward the pivot for smoother flipping</a:t>
            </a:r>
            <a:endParaRPr/>
          </a:p>
        </p:txBody>
      </p:sp>
      <p:pic>
        <p:nvPicPr>
          <p:cNvPr id="160" name="Google Shape;160;p12" title="IMG_4078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4596" y="320040"/>
            <a:ext cx="1632204" cy="2176272"/>
          </a:xfrm>
          <a:prstGeom prst="roundRect">
            <a:avLst>
              <a:gd fmla="val 3921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4596" y="2624328"/>
            <a:ext cx="1632204" cy="2176272"/>
          </a:xfrm>
          <a:prstGeom prst="roundRect">
            <a:avLst>
              <a:gd fmla="val 3921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Issues with form factor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457200" y="1170432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Planned the full blade as loaded tungsten epoxy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F5A65B"/>
                </a:solidFill>
                <a:latin typeface="Arial"/>
                <a:ea typeface="Arial"/>
                <a:cs typeface="Arial"/>
                <a:sym typeface="Arial"/>
              </a:rPr>
              <a:t>Issue: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Anyone who picks it up should recognize a blunt trainer, not a weapon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5ED3B4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Segmented blade: PLA breaks up the outline between tang and body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A594FF"/>
              </a:buClr>
              <a:buSzPts val="1500"/>
              <a:buFont typeface="Arial"/>
              <a:buChar char="•"/>
            </a:pPr>
            <a:r>
              <a:rPr b="0" lang="en-US" sz="15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Plastic “Toy” lettering in the blade + PLA dovetail connector between tungsten and aluminum: trainer, not weapon</a:t>
            </a:r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13326" l="3130" r="4525" t="11768"/>
          <a:stretch/>
        </p:blipFill>
        <p:spPr>
          <a:xfrm>
            <a:off x="4471061" y="3692784"/>
            <a:ext cx="4215739" cy="1107816"/>
          </a:xfrm>
          <a:prstGeom prst="roundRect">
            <a:avLst>
              <a:gd fmla="val 5777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13"/>
          <p:cNvPicPr preferRelativeResize="0"/>
          <p:nvPr/>
        </p:nvPicPr>
        <p:blipFill rotWithShape="1">
          <a:blip r:embed="rId4">
            <a:alphaModFix/>
          </a:blip>
          <a:srcRect b="32011" l="10135" r="6925" t="50001"/>
          <a:stretch/>
        </p:blipFill>
        <p:spPr>
          <a:xfrm>
            <a:off x="457200" y="3692784"/>
            <a:ext cx="3830981" cy="1107816"/>
          </a:xfrm>
          <a:prstGeom prst="roundRect">
            <a:avLst>
              <a:gd fmla="val 5777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457200" y="274320"/>
            <a:ext cx="408164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Pin force stress failure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457200" y="1170432"/>
            <a:ext cx="4035926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Tungsten epoxy or PLA as the tang failed at the pivot holes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F5A65B"/>
                </a:solidFill>
                <a:latin typeface="Arial"/>
                <a:ea typeface="Arial"/>
                <a:cs typeface="Arial"/>
                <a:sym typeface="Arial"/>
              </a:rPr>
              <a:t>Issue: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Pinholes too small: rotation forces broke the rivets out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5ED3B4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Pivot hardware: 1.5 mm OD brass rivets → 4 mm Chicago screws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Tang CNC’d in aluminum</a:t>
            </a:r>
            <a:endParaRPr/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27216" r="37826" t="48781"/>
          <a:stretch/>
        </p:blipFill>
        <p:spPr>
          <a:xfrm>
            <a:off x="4813166" y="411480"/>
            <a:ext cx="2223344" cy="4343400"/>
          </a:xfrm>
          <a:prstGeom prst="roundRect">
            <a:avLst>
              <a:gd fmla="val 2878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14" title="IMG_2937.jpg"/>
          <p:cNvPicPr preferRelativeResize="0"/>
          <p:nvPr/>
        </p:nvPicPr>
        <p:blipFill rotWithShape="1">
          <a:blip r:embed="rId4">
            <a:alphaModFix/>
          </a:blip>
          <a:srcRect b="22426" l="52856" r="17194" t="13096"/>
          <a:stretch/>
        </p:blipFill>
        <p:spPr>
          <a:xfrm flipH="1" rot="10800000">
            <a:off x="7173670" y="411480"/>
            <a:ext cx="1513130" cy="4343400"/>
          </a:xfrm>
          <a:prstGeom prst="roundRect">
            <a:avLst>
              <a:gd fmla="val 423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457200" y="274320"/>
            <a:ext cx="64879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Body force stress failure</a:t>
            </a:r>
            <a:endParaRPr/>
          </a:p>
        </p:txBody>
      </p:sp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457200" y="1115568"/>
            <a:ext cx="648791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Tungsten epoxy is brittle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Press fitting “Toy” lettering caused internal stress in the epoxy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SzPts val="1800"/>
              <a:buNone/>
            </a:pPr>
            <a:r>
              <a:rPr b="1" lang="en-US" sz="1200">
                <a:solidFill>
                  <a:srgbClr val="F5A65B"/>
                </a:solidFill>
                <a:latin typeface="Arial"/>
                <a:ea typeface="Arial"/>
                <a:cs typeface="Arial"/>
                <a:sym typeface="Arial"/>
              </a:rPr>
              <a:t>Issue: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Dovetail connector + “Toy” PLA press fit lettering weaken the blade: repeated failure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SzPts val="1800"/>
              <a:buNone/>
            </a:pPr>
            <a:r>
              <a:rPr b="1" lang="en-US" sz="1200">
                <a:solidFill>
                  <a:srgbClr val="5ED3B4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Anneal the blade at 60 °C after press fit to reduce internal stress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Thin coating of performance epoxy on assembled blade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Moved “Toy” lettering up, shrunk letters: more base material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SzPts val="1800"/>
              <a:buNone/>
            </a:pPr>
            <a:r>
              <a:rPr b="1" lang="en-US" sz="1200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Future design changes: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Plastic squid pen type portion or steel wire inside the blade for increased impact resistance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A594FF"/>
              </a:buClr>
              <a:buSzPts val="1200"/>
              <a:buFont typeface="Arial"/>
              <a:buChar char="•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Embed “Toy” lettering during casting, not press fit after</a:t>
            </a:r>
            <a:endParaRPr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161" y="4069080"/>
            <a:ext cx="2263071" cy="731520"/>
          </a:xfrm>
          <a:prstGeom prst="roundRect">
            <a:avLst>
              <a:gd fmla="val 875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p15" title="IMG_2938.jpg"/>
          <p:cNvPicPr preferRelativeResize="0"/>
          <p:nvPr/>
        </p:nvPicPr>
        <p:blipFill rotWithShape="1">
          <a:blip r:embed="rId4">
            <a:alphaModFix/>
          </a:blip>
          <a:srcRect b="16648" l="26691" r="39958" t="20930"/>
          <a:stretch/>
        </p:blipFill>
        <p:spPr>
          <a:xfrm rot="-5400000">
            <a:off x="4741407" y="3522065"/>
            <a:ext cx="731520" cy="1825550"/>
          </a:xfrm>
          <a:prstGeom prst="roundRect">
            <a:avLst>
              <a:gd fmla="val 875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9435" y="320040"/>
            <a:ext cx="1467365" cy="2606040"/>
          </a:xfrm>
          <a:prstGeom prst="roundRect">
            <a:avLst>
              <a:gd fmla="val 4362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6">
            <a:alphaModFix/>
          </a:blip>
          <a:srcRect b="32011" l="10135" r="6925" t="50001"/>
          <a:stretch/>
        </p:blipFill>
        <p:spPr>
          <a:xfrm>
            <a:off x="6157102" y="4069080"/>
            <a:ext cx="2529698" cy="731520"/>
          </a:xfrm>
          <a:prstGeom prst="roundRect">
            <a:avLst>
              <a:gd fmla="val 8750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457200" y="489204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PCB design iteration</a:t>
            </a:r>
            <a:endParaRPr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457200" y="1170432"/>
            <a:ext cx="6172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Fairly limited exposure to circuits: high school engineering class, college physics; never designed beyond what was needed to pass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Researched components for a functional POV circuit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SK6812MINI-HS (3.7 V nominal): no boost converter or 5 V LEDs, run time boosted by an estimated 1/3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Major issue: assembly short, 3.3 V line right next to ground line → next iteration moves the pin further away or uses 2 JST connectors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Swapped JST for a 7 pinhole connector: lower height, better fit in the body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Arial"/>
              <a:buChar char="–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7 pin 1 mm pitch JST: current would exceed the power and ground line rating</a:t>
            </a:r>
            <a:endParaRPr/>
          </a:p>
          <a:p>
            <a:pPr indent="-219456" lvl="0" marL="475488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Arial"/>
              <a:buChar char="–"/>
            </a:pPr>
            <a:r>
              <a:rPr b="0" lang="en-US" sz="12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Low and high current JST split planned</a:t>
            </a:r>
            <a:endParaRPr/>
          </a:p>
        </p:txBody>
      </p:sp>
      <p:pic>
        <p:nvPicPr>
          <p:cNvPr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4596" y="320040"/>
            <a:ext cx="1632204" cy="2176272"/>
          </a:xfrm>
          <a:prstGeom prst="roundRect">
            <a:avLst>
              <a:gd fmla="val 3921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16" title="IMG_408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4596" y="2624328"/>
            <a:ext cx="1632204" cy="2176272"/>
          </a:xfrm>
          <a:prstGeom prst="roundRect">
            <a:avLst>
              <a:gd fmla="val 3921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457200" y="27432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/>
          </a:p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457200" y="1170432"/>
            <a:ext cx="664162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Uploaded image split into 17 concentric rings × 256 slices (about 1.4° per slice)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Code detects blade movement via the IMU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ESP32 reads IMU data, finds its handle’s center line in the polar array that stores the image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Each LED’s offset from centerline + trig → its color as it sweeps the polar array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LEDs aren’t in a straight line, so each has its own offset value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46"/>
              </a:spcBef>
              <a:spcAft>
                <a:spcPts val="0"/>
              </a:spcAft>
              <a:buClr>
                <a:srgbClr val="A594FF"/>
              </a:buClr>
              <a:buSzPts val="1300"/>
              <a:buFont typeface="Arial"/>
              <a:buChar char="•"/>
            </a:pPr>
            <a:r>
              <a:rPr b="0" lang="en-US" sz="13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Future: app interface to upload any image, mapped to the LEDs, without reformatting the ESP32</a:t>
            </a:r>
            <a:endParaRPr/>
          </a:p>
        </p:txBody>
      </p:sp>
      <p:pic>
        <p:nvPicPr>
          <p:cNvPr id="202" name="Google Shape;202;p17" title="IMG_4080.jpg"/>
          <p:cNvPicPr preferRelativeResize="0"/>
          <p:nvPr/>
        </p:nvPicPr>
        <p:blipFill rotWithShape="1">
          <a:blip r:embed="rId3">
            <a:alphaModFix/>
          </a:blip>
          <a:srcRect b="10367" l="25002" r="47966" t="17990"/>
          <a:stretch/>
        </p:blipFill>
        <p:spPr>
          <a:xfrm>
            <a:off x="7418862" y="320040"/>
            <a:ext cx="1267938" cy="4480560"/>
          </a:xfrm>
          <a:prstGeom prst="roundRect">
            <a:avLst>
              <a:gd fmla="val 5048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0142" y="274320"/>
            <a:ext cx="960120" cy="96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457200" y="27432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1100" cap="none">
                <a:solidFill>
                  <a:srgbClr val="A594FF"/>
                </a:solidFill>
                <a:latin typeface="Arial"/>
                <a:ea typeface="Arial"/>
                <a:cs typeface="Arial"/>
                <a:sym typeface="Arial"/>
              </a:rPr>
              <a:t>PASSION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Testing and assembly</a:t>
            </a:r>
            <a:endParaRPr/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457200" y="1188720"/>
            <a:ext cx="6035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Assembly doc for consistent assembly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Continuity test the bridge after solder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Once soldered, software test outside the housing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Verify the IMU is outputting values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Verify the LED chain is unbroken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Both pass → seal shell, test again, then heat weld the shell</a:t>
            </a:r>
            <a:endParaRPr/>
          </a:p>
        </p:txBody>
      </p:sp>
      <p:pic>
        <p:nvPicPr>
          <p:cNvPr id="210" name="Google Shape;210;p18" title="gyrodata test.png"/>
          <p:cNvPicPr preferRelativeResize="0"/>
          <p:nvPr/>
        </p:nvPicPr>
        <p:blipFill rotWithShape="1">
          <a:blip r:embed="rId3">
            <a:alphaModFix/>
          </a:blip>
          <a:srcRect b="41215" l="1488" r="0" t="0"/>
          <a:stretch/>
        </p:blipFill>
        <p:spPr>
          <a:xfrm>
            <a:off x="6766560" y="320040"/>
            <a:ext cx="1920240" cy="1913438"/>
          </a:xfrm>
          <a:prstGeom prst="roundRect">
            <a:avLst>
              <a:gd fmla="val 3345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2361494"/>
            <a:ext cx="1920240" cy="2560320"/>
          </a:xfrm>
          <a:prstGeom prst="roundRect">
            <a:avLst>
              <a:gd fmla="val 3333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457200" y="489204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Future design plans</a:t>
            </a:r>
            <a:endParaRPr/>
          </a:p>
        </p:txBody>
      </p:sp>
      <p:sp>
        <p:nvSpPr>
          <p:cNvPr id="217" name="Google Shape;217;p19"/>
          <p:cNvSpPr txBox="1"/>
          <p:nvPr>
            <p:ph idx="1" type="body"/>
          </p:nvPr>
        </p:nvSpPr>
        <p:spPr>
          <a:xfrm>
            <a:off x="457200" y="1188720"/>
            <a:ext cx="6309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Software to upload images from your phone directly to the ESP32, no reformatting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Potting compound in pommel + battery section for further impact protection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Move 3.3 V connector pin away from ground to avoid bridging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Reinforce blade portion: steel wire or squid pen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2 JST connectors for faster assembly (+ and − vs low current split)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A594FF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Injection mold tooling for faster build time</a:t>
            </a:r>
            <a:endParaRPr/>
          </a:p>
        </p:txBody>
      </p:sp>
      <p:pic>
        <p:nvPicPr>
          <p:cNvPr id="218" name="Google Shape;218;p19"/>
          <p:cNvPicPr preferRelativeResize="0"/>
          <p:nvPr/>
        </p:nvPicPr>
        <p:blipFill rotWithShape="1">
          <a:blip r:embed="rId3">
            <a:alphaModFix/>
          </a:blip>
          <a:srcRect b="18335" l="11218" r="52783" t="49103"/>
          <a:stretch/>
        </p:blipFill>
        <p:spPr>
          <a:xfrm>
            <a:off x="7086600" y="1234440"/>
            <a:ext cx="1600200" cy="1557425"/>
          </a:xfrm>
          <a:prstGeom prst="roundRect">
            <a:avLst>
              <a:gd fmla="val 4109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457200" y="489204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Final remarks / future plans</a:t>
            </a:r>
            <a:endParaRPr/>
          </a:p>
        </p:txBody>
      </p:sp>
      <p:sp>
        <p:nvSpPr>
          <p:cNvPr id="224" name="Google Shape;224;p20"/>
          <p:cNvSpPr txBox="1"/>
          <p:nvPr>
            <p:ph idx="1" type="body"/>
          </p:nvPr>
        </p:nvSpPr>
        <p:spPr>
          <a:xfrm>
            <a:off x="457200" y="1188720"/>
            <a:ext cx="525780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194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Idea stage to physical hardware prototype that functions as I imagined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Demonstrates learning new domains, iterative design, problem solving, self directed learning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Learned KiCad + soldering from scratch; relearned Autodesk Fusion, Blender, Arduino IDE; learned to work with manufacturers + test their parts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Proud of all my projects; most are on my GitHub: Elijah-w15</a:t>
            </a:r>
            <a:endParaRPr/>
          </a:p>
          <a:p>
            <a:pPr indent="-219456" lvl="0" marL="219456" rtl="0" algn="l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A594FF"/>
              </a:buClr>
              <a:buSzPts val="1400"/>
              <a:buFont typeface="Arial"/>
              <a:buChar char="•"/>
            </a:pPr>
            <a:r>
              <a:rPr b="0" lang="en-US" sz="14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Happy to answer questions on this or any project in the interview portion</a:t>
            </a:r>
            <a:endParaRPr/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16616" l="13590" r="11408" t="12043"/>
          <a:stretch/>
        </p:blipFill>
        <p:spPr>
          <a:xfrm>
            <a:off x="5943600" y="1097280"/>
            <a:ext cx="2743200" cy="3479065"/>
          </a:xfrm>
          <a:prstGeom prst="roundRect">
            <a:avLst>
              <a:gd fmla="val 2333" name="adj"/>
            </a:avLst>
          </a:prstGeom>
          <a:noFill/>
          <a:ln cap="flat" cmpd="sng" w="9525">
            <a:solidFill>
              <a:srgbClr val="2C34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type="title"/>
          </p:nvPr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Thank you for your time.</a:t>
            </a:r>
            <a:br>
              <a:rPr lang="en-US" sz="3600"/>
            </a:br>
            <a:r>
              <a:rPr b="1" lang="en-US" sz="3600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Xcimer Dark">
  <a:themeElements>
    <a:clrScheme name="Xcimer Dark">
      <a:dk1>
        <a:srgbClr val="F2F4F7"/>
      </a:dk1>
      <a:lt1>
        <a:srgbClr val="0E1116"/>
      </a:lt1>
      <a:dk2>
        <a:srgbClr val="9AA3B2"/>
      </a:dk2>
      <a:lt2>
        <a:srgbClr val="1A1F28"/>
      </a:lt2>
      <a:accent1>
        <a:srgbClr val="A594FF"/>
      </a:accent1>
      <a:accent2>
        <a:srgbClr val="5ED3B4"/>
      </a:accent2>
      <a:accent3>
        <a:srgbClr val="F5A65B"/>
      </a:accent3>
      <a:accent4>
        <a:srgbClr val="7FB2FF"/>
      </a:accent4>
      <a:accent5>
        <a:srgbClr val="F27BA6"/>
      </a:accent5>
      <a:accent6>
        <a:srgbClr val="C9CFD8"/>
      </a:accent6>
      <a:hlink>
        <a:srgbClr val="A594FF"/>
      </a:hlink>
      <a:folHlink>
        <a:srgbClr val="C3B8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