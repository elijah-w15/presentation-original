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1175f6ef484bf7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1175f6ef484bf7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1175f6ef484bf76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1175f6ef484bf76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1175f6ef484bf76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h1175f6ef484bf76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1175f6ef484bf76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1175f6ef484bf76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1175f6ef484bf76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h1175f6ef484bf76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1175f6ef484bf76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1175f6ef484bf76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5dc71852fa6102b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h5dc71852fa6102b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1175f6ef484bf76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1175f6ef484bf76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1175f6ef484bf762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h1175f6ef484bf76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5dc71852fa6102b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h5dc71852fa6102b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5dc71852fa6102b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5dc71852fa6102b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5dc71852fa6102b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h5dc71852fa6102b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5dc71852fa6102b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5dc71852fa6102b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h5dc71852fa6102bf_3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h5dc71852fa6102bf_3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5dc71852fa6102b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h5dc71852fa6102b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5dc71852fa6102b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h5dc71852fa6102b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7932296c7ead51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h7932296c7ead51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7932296c7ead512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h7932296c7ead512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h5dc71852fa6102b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h5dc71852fa6102b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5dc71852fa6102b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h5dc71852fa6102b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28.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9.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4.jp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36.jpg"/><Relationship Id="rId5" Type="http://schemas.openxmlformats.org/officeDocument/2006/relationships/image" Target="../media/image12.png"/><Relationship Id="rId6"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3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5.jp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51719"/>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Elijah Whiting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
              <a:t>X</a:t>
            </a:r>
            <a:r>
              <a:rPr lang="en"/>
              <a:t>cimer</a:t>
            </a:r>
            <a:r>
              <a:rPr lang="en"/>
              <a:t> P</a:t>
            </a:r>
            <a:r>
              <a:rPr lang="en"/>
              <a:t>ulsed</a:t>
            </a:r>
            <a:r>
              <a:rPr lang="en"/>
              <a:t> Power M</a:t>
            </a:r>
            <a:r>
              <a:rPr lang="en"/>
              <a:t>anufacturing</a:t>
            </a:r>
            <a:r>
              <a:rPr lang="en"/>
              <a:t> Engineer Interview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	</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Chemical Engineer from Widener University</a:t>
            </a:r>
            <a:endParaRPr/>
          </a:p>
          <a:p>
            <a:pPr indent="-334328" lvl="0" marL="457200" rtl="0" algn="l">
              <a:spcBef>
                <a:spcPts val="0"/>
              </a:spcBef>
              <a:spcAft>
                <a:spcPts val="0"/>
              </a:spcAft>
              <a:buSzPct val="100000"/>
              <a:buChar char="-"/>
            </a:pPr>
            <a:r>
              <a:rPr lang="en"/>
              <a:t>Professional B</a:t>
            </a:r>
            <a:r>
              <a:rPr lang="en"/>
              <a:t>ackground</a:t>
            </a:r>
            <a:r>
              <a:rPr lang="en"/>
              <a:t>: Process engineering for Carpenter C</a:t>
            </a:r>
            <a:r>
              <a:rPr lang="en"/>
              <a:t>ompany</a:t>
            </a:r>
            <a:endParaRPr/>
          </a:p>
          <a:p>
            <a:pPr indent="-310832" lvl="1" marL="914400" rtl="0" algn="l">
              <a:spcBef>
                <a:spcPts val="0"/>
              </a:spcBef>
              <a:spcAft>
                <a:spcPts val="0"/>
              </a:spcAft>
              <a:buSzPct val="100000"/>
              <a:buChar char="-"/>
            </a:pPr>
            <a:r>
              <a:rPr lang="en"/>
              <a:t>Polyurethane foam manufacturer </a:t>
            </a:r>
            <a:endParaRPr/>
          </a:p>
          <a:p>
            <a:pPr indent="-310832" lvl="1" marL="914400" rtl="0" algn="l">
              <a:spcBef>
                <a:spcPts val="0"/>
              </a:spcBef>
              <a:spcAft>
                <a:spcPts val="0"/>
              </a:spcAft>
              <a:buSzPct val="100000"/>
              <a:buChar char="-"/>
            </a:pPr>
            <a:r>
              <a:rPr lang="en"/>
              <a:t>Worked on a team of 3 engineers and 8 operators to produce tens of millions of dollars worth of polyurethane foam per year at one facility</a:t>
            </a:r>
            <a:endParaRPr/>
          </a:p>
          <a:p>
            <a:pPr indent="-310832" lvl="1" marL="914400" rtl="0" algn="l">
              <a:spcBef>
                <a:spcPts val="0"/>
              </a:spcBef>
              <a:spcAft>
                <a:spcPts val="0"/>
              </a:spcAft>
              <a:buSzPct val="100000"/>
              <a:buChar char="-"/>
            </a:pPr>
            <a:r>
              <a:rPr lang="en"/>
              <a:t>Over 60 facilities worldwide</a:t>
            </a:r>
            <a:endParaRPr/>
          </a:p>
          <a:p>
            <a:pPr indent="-310832" lvl="1" marL="914400" rtl="0" algn="l">
              <a:spcBef>
                <a:spcPts val="0"/>
              </a:spcBef>
              <a:spcAft>
                <a:spcPts val="0"/>
              </a:spcAft>
              <a:buSzPct val="100000"/>
              <a:buChar char="-"/>
            </a:pPr>
            <a:r>
              <a:rPr lang="en"/>
              <a:t>Developed a python based scheduling algorithm</a:t>
            </a:r>
            <a:endParaRPr/>
          </a:p>
          <a:p>
            <a:pPr indent="-310832" lvl="1" marL="914400" rtl="0" algn="l">
              <a:spcBef>
                <a:spcPts val="0"/>
              </a:spcBef>
              <a:spcAft>
                <a:spcPts val="0"/>
              </a:spcAft>
              <a:buSzPct val="100000"/>
              <a:buChar char="-"/>
            </a:pPr>
            <a:r>
              <a:rPr lang="en"/>
              <a:t>Project taken over by corporate for further development</a:t>
            </a:r>
            <a:endParaRPr/>
          </a:p>
          <a:p>
            <a:pPr indent="-310832" lvl="1" marL="914400" rtl="0" algn="l">
              <a:spcBef>
                <a:spcPts val="0"/>
              </a:spcBef>
              <a:spcAft>
                <a:spcPts val="0"/>
              </a:spcAft>
              <a:buSzPct val="100000"/>
              <a:buChar char="-"/>
            </a:pPr>
            <a:r>
              <a:rPr lang="en"/>
              <a:t>Projected ~$200K savings per year based on throughput volume and conservative reduction targets</a:t>
            </a:r>
            <a:endParaRPr/>
          </a:p>
          <a:p>
            <a:pPr indent="-334328" lvl="0" marL="457200" rtl="0" algn="l">
              <a:spcBef>
                <a:spcPts val="0"/>
              </a:spcBef>
              <a:spcAft>
                <a:spcPts val="0"/>
              </a:spcAft>
              <a:buSzPct val="128571"/>
              <a:buChar char="-"/>
            </a:pPr>
            <a:r>
              <a:rPr lang="en"/>
              <a:t>Projects </a:t>
            </a:r>
            <a:r>
              <a:rPr lang="en" sz="1400"/>
              <a:t>(Github.com/Elijah-w15)</a:t>
            </a:r>
            <a:endParaRPr sz="1400"/>
          </a:p>
          <a:p>
            <a:pPr indent="-310832" lvl="1" marL="914400" rtl="0" algn="l">
              <a:spcBef>
                <a:spcPts val="0"/>
              </a:spcBef>
              <a:spcAft>
                <a:spcPts val="0"/>
              </a:spcAft>
              <a:buSzPct val="100000"/>
              <a:buChar char="-"/>
            </a:pPr>
            <a:r>
              <a:rPr lang="en"/>
              <a:t>Automatch</a:t>
            </a:r>
            <a:endParaRPr/>
          </a:p>
          <a:p>
            <a:pPr indent="-310832" lvl="1" marL="914400" rtl="0" algn="l">
              <a:spcBef>
                <a:spcPts val="0"/>
              </a:spcBef>
              <a:spcAft>
                <a:spcPts val="0"/>
              </a:spcAft>
              <a:buSzPct val="100000"/>
              <a:buChar char="-"/>
            </a:pPr>
            <a:r>
              <a:rPr lang="en"/>
              <a:t>Catalyst</a:t>
            </a:r>
            <a:endParaRPr/>
          </a:p>
          <a:p>
            <a:pPr indent="-310832" lvl="1" marL="914400" rtl="0" algn="l">
              <a:spcBef>
                <a:spcPts val="0"/>
              </a:spcBef>
              <a:spcAft>
                <a:spcPts val="0"/>
              </a:spcAft>
              <a:buSzPct val="100000"/>
              <a:buChar char="-"/>
            </a:pPr>
            <a:r>
              <a:rPr lang="en"/>
              <a:t>Enzyme project</a:t>
            </a:r>
            <a:endParaRPr/>
          </a:p>
          <a:p>
            <a:pPr indent="-310832" lvl="1" marL="914400" rtl="0" algn="l">
              <a:spcBef>
                <a:spcPts val="0"/>
              </a:spcBef>
              <a:spcAft>
                <a:spcPts val="0"/>
              </a:spcAft>
              <a:buSzPct val="100000"/>
              <a:buChar char="-"/>
            </a:pPr>
            <a:r>
              <a:rPr lang="en"/>
              <a:t>Senior</a:t>
            </a:r>
            <a:r>
              <a:rPr lang="en"/>
              <a:t> capstone project</a:t>
            </a:r>
            <a:endParaRPr/>
          </a:p>
          <a:p>
            <a:pPr indent="-310832" lvl="1" marL="914400" rtl="0" algn="l">
              <a:spcBef>
                <a:spcPts val="0"/>
              </a:spcBef>
              <a:spcAft>
                <a:spcPts val="0"/>
              </a:spcAft>
              <a:buSzPct val="100000"/>
              <a:buChar char="-"/>
            </a:pPr>
            <a:r>
              <a:rPr lang="en"/>
              <a:t>Hardware passion project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Presentation</a:t>
            </a:r>
            <a:r>
              <a:rPr lang="en"/>
              <a:t> options</a:t>
            </a:r>
            <a:endParaRPr/>
          </a:p>
        </p:txBody>
      </p:sp>
      <p:sp>
        <p:nvSpPr>
          <p:cNvPr id="67" name="Google Shape;67;p15"/>
          <p:cNvSpPr txBox="1"/>
          <p:nvPr>
            <p:ph idx="1" type="body"/>
          </p:nvPr>
        </p:nvSpPr>
        <p:spPr>
          <a:xfrm>
            <a:off x="258125" y="1152475"/>
            <a:ext cx="8934300" cy="3830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Carpenter scheduling </a:t>
            </a:r>
            <a:r>
              <a:rPr lang="en"/>
              <a:t>algorithm</a:t>
            </a:r>
            <a:endParaRPr/>
          </a:p>
          <a:p>
            <a:pPr indent="-317500" lvl="1" marL="914400" rtl="0" algn="l">
              <a:spcBef>
                <a:spcPts val="0"/>
              </a:spcBef>
              <a:spcAft>
                <a:spcPts val="0"/>
              </a:spcAft>
              <a:buSzPts val="1400"/>
              <a:buChar char="-"/>
            </a:pPr>
            <a:r>
              <a:rPr lang="en"/>
              <a:t>Making foam is a continuous process</a:t>
            </a:r>
            <a:endParaRPr/>
          </a:p>
          <a:p>
            <a:pPr indent="-317500" lvl="1" marL="914400" rtl="0" algn="l">
              <a:spcBef>
                <a:spcPts val="0"/>
              </a:spcBef>
              <a:spcAft>
                <a:spcPts val="0"/>
              </a:spcAft>
              <a:buSzPts val="1400"/>
              <a:buChar char="-"/>
            </a:pPr>
            <a:r>
              <a:rPr lang="en"/>
              <a:t>There are 2 main reactions</a:t>
            </a:r>
            <a:endParaRPr/>
          </a:p>
          <a:p>
            <a:pPr indent="-317500" lvl="1" marL="914400" rtl="0" algn="l">
              <a:spcBef>
                <a:spcPts val="0"/>
              </a:spcBef>
              <a:spcAft>
                <a:spcPts val="0"/>
              </a:spcAft>
              <a:buSzPts val="1400"/>
              <a:buChar char="-"/>
            </a:pPr>
            <a:r>
              <a:rPr lang="en"/>
              <a:t>Most of the job was monitoring the quality of the foam coming out, root causing any issues, adjusting the 2 reactions to fix the issues, and working with operators to keep the operation running</a:t>
            </a:r>
            <a:endParaRPr/>
          </a:p>
          <a:p>
            <a:pPr indent="-317500" lvl="1" marL="914400" rtl="0" algn="l">
              <a:spcBef>
                <a:spcPts val="0"/>
              </a:spcBef>
              <a:spcAft>
                <a:spcPts val="0"/>
              </a:spcAft>
              <a:buSzPts val="1400"/>
              <a:buChar char="-"/>
            </a:pPr>
            <a:r>
              <a:rPr lang="en"/>
              <a:t>Time to reach steady state directly impacts how much waste is created</a:t>
            </a:r>
            <a:endParaRPr/>
          </a:p>
          <a:p>
            <a:pPr indent="-317500" lvl="1" marL="914400" rtl="0" algn="l">
              <a:spcBef>
                <a:spcPts val="0"/>
              </a:spcBef>
              <a:spcAft>
                <a:spcPts val="0"/>
              </a:spcAft>
              <a:buSzPts val="1400"/>
              <a:buChar char="-"/>
            </a:pPr>
            <a:r>
              <a:rPr lang="en"/>
              <a:t>Properties like density, height, width and color also affect waste</a:t>
            </a:r>
            <a:endParaRPr/>
          </a:p>
          <a:p>
            <a:pPr indent="-317500" lvl="1" marL="914400" rtl="0" algn="l">
              <a:spcBef>
                <a:spcPts val="0"/>
              </a:spcBef>
              <a:spcAft>
                <a:spcPts val="0"/>
              </a:spcAft>
              <a:buSzPts val="1400"/>
              <a:buChar char="-"/>
            </a:pPr>
            <a:r>
              <a:rPr lang="en"/>
              <a:t>Biggest driver of waste was schedule sequencing inefficiencies </a:t>
            </a:r>
            <a:endParaRPr/>
          </a:p>
          <a:p>
            <a:pPr indent="-317500" lvl="1" marL="914400" rtl="0" algn="l">
              <a:spcBef>
                <a:spcPts val="0"/>
              </a:spcBef>
              <a:spcAft>
                <a:spcPts val="0"/>
              </a:spcAft>
              <a:buSzPts val="1400"/>
              <a:buChar char="-"/>
            </a:pPr>
            <a:r>
              <a:rPr lang="en"/>
              <a:t>Set a conservative target based on what other plants had already proven was possible </a:t>
            </a:r>
            <a:endParaRPr/>
          </a:p>
          <a:p>
            <a:pPr indent="-317500" lvl="1" marL="914400" rtl="0" algn="l">
              <a:spcBef>
                <a:spcPts val="0"/>
              </a:spcBef>
              <a:spcAft>
                <a:spcPts val="0"/>
              </a:spcAft>
              <a:buSzPts val="1400"/>
              <a:buChar char="-"/>
            </a:pPr>
            <a:r>
              <a:rPr lang="en"/>
              <a:t>Traveling salesman problem</a:t>
            </a:r>
            <a:endParaRPr/>
          </a:p>
          <a:p>
            <a:pPr indent="-317500" lvl="1" marL="914400" rtl="0" algn="l">
              <a:spcBef>
                <a:spcPts val="0"/>
              </a:spcBef>
              <a:spcAft>
                <a:spcPts val="0"/>
              </a:spcAft>
              <a:buSzPts val="1400"/>
              <a:buChar char="-"/>
            </a:pPr>
            <a:r>
              <a:rPr lang="en"/>
              <a:t>Took tribal knowledge and systemized it</a:t>
            </a:r>
            <a:endParaRPr/>
          </a:p>
          <a:p>
            <a:pPr indent="-317500" lvl="1" marL="914400" rtl="0" algn="l">
              <a:spcBef>
                <a:spcPts val="0"/>
              </a:spcBef>
              <a:spcAft>
                <a:spcPts val="0"/>
              </a:spcAft>
              <a:buSzPts val="1400"/>
              <a:buChar char="-"/>
            </a:pPr>
            <a:r>
              <a:rPr lang="en"/>
              <a:t>Hand coded in a locked down environment with no library access</a:t>
            </a:r>
            <a:endParaRPr/>
          </a:p>
          <a:p>
            <a:pPr indent="-317500" lvl="1" marL="914400" rtl="0" algn="l">
              <a:spcBef>
                <a:spcPts val="0"/>
              </a:spcBef>
              <a:spcAft>
                <a:spcPts val="0"/>
              </a:spcAft>
              <a:buSzPts val="1400"/>
              <a:buChar char="-"/>
            </a:pPr>
            <a:r>
              <a:rPr lang="en"/>
              <a:t>Handed off to corporate for further development using libraries I did not have access to</a:t>
            </a:r>
            <a:endParaRPr/>
          </a:p>
          <a:p>
            <a:pPr indent="-317500" lvl="1" marL="914400" rtl="0" algn="l">
              <a:spcBef>
                <a:spcPts val="0"/>
              </a:spcBef>
              <a:spcAft>
                <a:spcPts val="0"/>
              </a:spcAft>
              <a:buSzPts val="1400"/>
              <a:buChar char="-"/>
            </a:pPr>
            <a:r>
              <a:rPr lang="en"/>
              <a:t>IP free version available on my github as Weighted-Sorting-Greedy-Algorithm</a:t>
            </a:r>
            <a:endParaRPr/>
          </a:p>
          <a:p>
            <a:pPr indent="0" lvl="0" marL="914400" rtl="0" algn="l">
              <a:spcBef>
                <a:spcPts val="1200"/>
              </a:spcBef>
              <a:spcAft>
                <a:spcPts val="1200"/>
              </a:spcAft>
              <a:buNone/>
            </a:pPr>
            <a:r>
              <a:t/>
            </a:r>
            <a:endParaRPr/>
          </a:p>
        </p:txBody>
      </p:sp>
      <p:pic>
        <p:nvPicPr>
          <p:cNvPr id="68" name="Google Shape;68;p15" title="paint-online-free.png"/>
          <p:cNvPicPr preferRelativeResize="0"/>
          <p:nvPr/>
        </p:nvPicPr>
        <p:blipFill rotWithShape="1">
          <a:blip r:embed="rId3">
            <a:alphaModFix/>
          </a:blip>
          <a:srcRect b="55797" l="23514" r="32280" t="3350"/>
          <a:stretch/>
        </p:blipFill>
        <p:spPr>
          <a:xfrm>
            <a:off x="6390175" y="0"/>
            <a:ext cx="2753824" cy="1590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Presentation options</a:t>
            </a:r>
            <a:endParaRPr/>
          </a:p>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Automatch</a:t>
            </a:r>
            <a:endParaRPr/>
          </a:p>
          <a:p>
            <a:pPr indent="-317500" lvl="1" marL="914400" rtl="0" algn="l">
              <a:spcBef>
                <a:spcPts val="0"/>
              </a:spcBef>
              <a:spcAft>
                <a:spcPts val="0"/>
              </a:spcAft>
              <a:buSzPts val="1400"/>
              <a:buChar char="-"/>
            </a:pPr>
            <a:r>
              <a:rPr lang="en"/>
              <a:t>How I found this opportunity</a:t>
            </a:r>
            <a:endParaRPr/>
          </a:p>
          <a:p>
            <a:pPr indent="-317500" lvl="1" marL="914400" rtl="0" algn="l">
              <a:spcBef>
                <a:spcPts val="0"/>
              </a:spcBef>
              <a:spcAft>
                <a:spcPts val="0"/>
              </a:spcAft>
              <a:buSzPts val="1400"/>
              <a:buChar char="-"/>
            </a:pPr>
            <a:r>
              <a:rPr lang="en"/>
              <a:t>Custom job scraper</a:t>
            </a:r>
            <a:endParaRPr/>
          </a:p>
          <a:p>
            <a:pPr indent="-317500" lvl="1" marL="914400" rtl="0" algn="l">
              <a:spcBef>
                <a:spcPts val="0"/>
              </a:spcBef>
              <a:spcAft>
                <a:spcPts val="0"/>
              </a:spcAft>
              <a:buSzPts val="1400"/>
              <a:buChar char="-"/>
            </a:pPr>
            <a:r>
              <a:rPr lang="en"/>
              <a:t>Define the metrics you care about</a:t>
            </a:r>
            <a:endParaRPr/>
          </a:p>
          <a:p>
            <a:pPr indent="-317500" lvl="1" marL="914400" rtl="0" algn="l">
              <a:spcBef>
                <a:spcPts val="0"/>
              </a:spcBef>
              <a:spcAft>
                <a:spcPts val="0"/>
              </a:spcAft>
              <a:buSzPts val="1400"/>
              <a:buChar char="-"/>
            </a:pPr>
            <a:r>
              <a:rPr lang="en"/>
              <a:t>Scrapes and grades using a local AI via Ollama</a:t>
            </a:r>
            <a:endParaRPr/>
          </a:p>
          <a:p>
            <a:pPr indent="-317500" lvl="1" marL="914400" rtl="0" algn="l">
              <a:spcBef>
                <a:spcPts val="0"/>
              </a:spcBef>
              <a:spcAft>
                <a:spcPts val="0"/>
              </a:spcAft>
              <a:buSzPts val="1400"/>
              <a:buChar char="-"/>
            </a:pPr>
            <a:r>
              <a:rPr lang="en"/>
              <a:t>Outputs top 10 matches (plus wild card) based on rubric</a:t>
            </a:r>
            <a:endParaRPr/>
          </a:p>
          <a:p>
            <a:pPr indent="-317500" lvl="1" marL="914400" rtl="0" algn="l">
              <a:spcBef>
                <a:spcPts val="0"/>
              </a:spcBef>
              <a:spcAft>
                <a:spcPts val="0"/>
              </a:spcAft>
              <a:buSzPts val="1400"/>
              <a:buChar char="-"/>
            </a:pPr>
            <a:r>
              <a:rPr lang="en"/>
              <a:t>Custom setup wizard and uses docker to check and download dependencies</a:t>
            </a:r>
            <a:endParaRPr/>
          </a:p>
          <a:p>
            <a:pPr indent="-317500" lvl="1" marL="914400" rtl="0" algn="l">
              <a:spcBef>
                <a:spcPts val="0"/>
              </a:spcBef>
              <a:spcAft>
                <a:spcPts val="0"/>
              </a:spcAft>
              <a:buSzPts val="1400"/>
              <a:buChar char="-"/>
            </a:pPr>
            <a:r>
              <a:rPr lang="en"/>
              <a:t>Open source on my GitHub</a:t>
            </a:r>
            <a:endParaRPr/>
          </a:p>
        </p:txBody>
      </p:sp>
      <p:pic>
        <p:nvPicPr>
          <p:cNvPr id="75" name="Google Shape;75;p16"/>
          <p:cNvPicPr preferRelativeResize="0"/>
          <p:nvPr/>
        </p:nvPicPr>
        <p:blipFill>
          <a:blip r:embed="rId3">
            <a:alphaModFix/>
          </a:blip>
          <a:stretch>
            <a:fillRect/>
          </a:stretch>
        </p:blipFill>
        <p:spPr>
          <a:xfrm>
            <a:off x="4971000" y="0"/>
            <a:ext cx="4173000" cy="23473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Presentation options</a:t>
            </a:r>
            <a:endParaRPr/>
          </a:p>
          <a:p>
            <a:pPr indent="0" lvl="0" marL="0" rtl="0" algn="l">
              <a:spcBef>
                <a:spcPts val="0"/>
              </a:spcBef>
              <a:spcAft>
                <a:spcPts val="0"/>
              </a:spcAft>
              <a:buNone/>
            </a:pPr>
            <a:r>
              <a:t/>
            </a:r>
            <a:endParaRPr/>
          </a:p>
        </p:txBody>
      </p:sp>
      <p:sp>
        <p:nvSpPr>
          <p:cNvPr id="81" name="Google Shape;81;p17"/>
          <p:cNvSpPr txBox="1"/>
          <p:nvPr>
            <p:ph idx="1" type="body"/>
          </p:nvPr>
        </p:nvSpPr>
        <p:spPr>
          <a:xfrm>
            <a:off x="311700" y="1152475"/>
            <a:ext cx="4150500" cy="3416400"/>
          </a:xfrm>
          <a:prstGeom prst="rect">
            <a:avLst/>
          </a:prstGeom>
        </p:spPr>
        <p:txBody>
          <a:bodyPr anchorCtr="0" anchor="t" bIns="91425" lIns="91425" spcFirstLastPara="1" rIns="91425" wrap="square" tIns="91425">
            <a:normAutofit fontScale="77500" lnSpcReduction="20000"/>
          </a:bodyPr>
          <a:lstStyle/>
          <a:p>
            <a:pPr indent="-317183" lvl="0" marL="457200" rtl="0" algn="l">
              <a:spcBef>
                <a:spcPts val="0"/>
              </a:spcBef>
              <a:spcAft>
                <a:spcPts val="0"/>
              </a:spcAft>
              <a:buSzPct val="100000"/>
              <a:buChar char="-"/>
            </a:pPr>
            <a:r>
              <a:rPr lang="en"/>
              <a:t>Enzyme project</a:t>
            </a:r>
            <a:endParaRPr/>
          </a:p>
          <a:p>
            <a:pPr indent="-297498" lvl="1" marL="914400" rtl="0" algn="l">
              <a:spcBef>
                <a:spcPts val="0"/>
              </a:spcBef>
              <a:spcAft>
                <a:spcPts val="0"/>
              </a:spcAft>
              <a:buSzPct val="100000"/>
              <a:buChar char="-"/>
            </a:pPr>
            <a:r>
              <a:rPr lang="en"/>
              <a:t>Burning organic matter can form PAHs that can aggregate in the lungs if inhaled</a:t>
            </a:r>
            <a:endParaRPr/>
          </a:p>
          <a:p>
            <a:pPr indent="-297498" lvl="1" marL="914400" rtl="0" algn="l">
              <a:spcBef>
                <a:spcPts val="0"/>
              </a:spcBef>
              <a:spcAft>
                <a:spcPts val="0"/>
              </a:spcAft>
              <a:buSzPct val="100000"/>
              <a:buChar char="-"/>
            </a:pPr>
            <a:r>
              <a:rPr lang="en"/>
              <a:t>PAHs are tarry, non polar compounds</a:t>
            </a:r>
            <a:endParaRPr/>
          </a:p>
          <a:p>
            <a:pPr indent="-297498" lvl="1" marL="914400" rtl="0" algn="l">
              <a:spcBef>
                <a:spcPts val="0"/>
              </a:spcBef>
              <a:spcAft>
                <a:spcPts val="0"/>
              </a:spcAft>
              <a:buSzPct val="100000"/>
              <a:buChar char="-"/>
            </a:pPr>
            <a:r>
              <a:rPr lang="en"/>
              <a:t>Problem is essentially how can I convert these PAHs to something that is soluble</a:t>
            </a:r>
            <a:endParaRPr/>
          </a:p>
          <a:p>
            <a:pPr indent="-297498" lvl="1" marL="914400" rtl="0" algn="l">
              <a:spcBef>
                <a:spcPts val="0"/>
              </a:spcBef>
              <a:spcAft>
                <a:spcPts val="0"/>
              </a:spcAft>
              <a:buSzPct val="100000"/>
              <a:buChar char="-"/>
            </a:pPr>
            <a:r>
              <a:rPr lang="en"/>
              <a:t>By combining the P450 and GST enzymes, you are theoretically able to convert non-polar compounds trapped in the lungs into something the body can naturally excrete</a:t>
            </a:r>
            <a:endParaRPr/>
          </a:p>
          <a:p>
            <a:pPr indent="-297498" lvl="1" marL="914400" rtl="0" algn="l">
              <a:spcBef>
                <a:spcPts val="0"/>
              </a:spcBef>
              <a:spcAft>
                <a:spcPts val="0"/>
              </a:spcAft>
              <a:buSzPct val="100000"/>
              <a:buChar char="-"/>
            </a:pPr>
            <a:r>
              <a:rPr lang="en"/>
              <a:t>Used pymol and autodock vina to model binding energy </a:t>
            </a:r>
            <a:endParaRPr/>
          </a:p>
          <a:p>
            <a:pPr indent="-297498" lvl="1" marL="914400" rtl="0" algn="l">
              <a:spcBef>
                <a:spcPts val="0"/>
              </a:spcBef>
              <a:spcAft>
                <a:spcPts val="0"/>
              </a:spcAft>
              <a:buSzPct val="100000"/>
              <a:buChar char="-"/>
            </a:pPr>
            <a:r>
              <a:rPr lang="en"/>
              <a:t>Next steps were building the water free tunnel using CAVER and Rosetta to connect the 2 enzymes</a:t>
            </a:r>
            <a:endParaRPr/>
          </a:p>
          <a:p>
            <a:pPr indent="-297498" lvl="1" marL="914400" rtl="0" algn="l">
              <a:spcBef>
                <a:spcPts val="0"/>
              </a:spcBef>
              <a:spcAft>
                <a:spcPts val="0"/>
              </a:spcAft>
              <a:buSzPct val="100000"/>
              <a:buChar char="-"/>
            </a:pPr>
            <a:r>
              <a:rPr lang="en"/>
              <a:t>Tryptophan synthase does this naturally</a:t>
            </a:r>
            <a:endParaRPr/>
          </a:p>
          <a:p>
            <a:pPr indent="-297498" lvl="1" marL="914400" rtl="0" algn="l">
              <a:spcBef>
                <a:spcPts val="0"/>
              </a:spcBef>
              <a:spcAft>
                <a:spcPts val="0"/>
              </a:spcAft>
              <a:buSzPct val="100000"/>
              <a:buChar char="-"/>
            </a:pPr>
            <a:r>
              <a:rPr lang="en"/>
              <a:t>H2O2 is needed to replace the P450’s Oxygen </a:t>
            </a:r>
            <a:endParaRPr/>
          </a:p>
          <a:p>
            <a:pPr indent="-297498" lvl="1" marL="914400" rtl="0" algn="l">
              <a:spcBef>
                <a:spcPts val="0"/>
              </a:spcBef>
              <a:spcAft>
                <a:spcPts val="0"/>
              </a:spcAft>
              <a:buSzPct val="100000"/>
              <a:buChar char="-"/>
            </a:pPr>
            <a:r>
              <a:rPr lang="en"/>
              <a:t>Further development required wet lab validation</a:t>
            </a:r>
            <a:endParaRPr/>
          </a:p>
          <a:p>
            <a:pPr indent="-297498" lvl="1" marL="914400" rtl="0" algn="l">
              <a:spcBef>
                <a:spcPts val="0"/>
              </a:spcBef>
              <a:spcAft>
                <a:spcPts val="0"/>
              </a:spcAft>
              <a:buSzPct val="100000"/>
              <a:buChar char="-"/>
            </a:pPr>
            <a:r>
              <a:rPr lang="en"/>
              <a:t>SSD corrupted so development stopped</a:t>
            </a:r>
            <a:endParaRPr/>
          </a:p>
        </p:txBody>
      </p:sp>
      <p:pic>
        <p:nvPicPr>
          <p:cNvPr id="82" name="Google Shape;82;p17"/>
          <p:cNvPicPr preferRelativeResize="0"/>
          <p:nvPr/>
        </p:nvPicPr>
        <p:blipFill>
          <a:blip r:embed="rId3">
            <a:alphaModFix/>
          </a:blip>
          <a:stretch>
            <a:fillRect/>
          </a:stretch>
        </p:blipFill>
        <p:spPr>
          <a:xfrm>
            <a:off x="4653296" y="0"/>
            <a:ext cx="4490704" cy="932550"/>
          </a:xfrm>
          <a:prstGeom prst="rect">
            <a:avLst/>
          </a:prstGeom>
          <a:noFill/>
          <a:ln>
            <a:noFill/>
          </a:ln>
        </p:spPr>
      </p:pic>
      <p:pic>
        <p:nvPicPr>
          <p:cNvPr id="83" name="Google Shape;83;p17"/>
          <p:cNvPicPr preferRelativeResize="0"/>
          <p:nvPr/>
        </p:nvPicPr>
        <p:blipFill>
          <a:blip r:embed="rId4">
            <a:alphaModFix/>
          </a:blip>
          <a:stretch>
            <a:fillRect/>
          </a:stretch>
        </p:blipFill>
        <p:spPr>
          <a:xfrm>
            <a:off x="4653312" y="3224963"/>
            <a:ext cx="4443076" cy="1066325"/>
          </a:xfrm>
          <a:prstGeom prst="rect">
            <a:avLst/>
          </a:prstGeom>
          <a:noFill/>
          <a:ln>
            <a:noFill/>
          </a:ln>
        </p:spPr>
      </p:pic>
      <p:pic>
        <p:nvPicPr>
          <p:cNvPr id="84" name="Google Shape;84;p17"/>
          <p:cNvPicPr preferRelativeResize="0"/>
          <p:nvPr/>
        </p:nvPicPr>
        <p:blipFill>
          <a:blip r:embed="rId5">
            <a:alphaModFix/>
          </a:blip>
          <a:stretch>
            <a:fillRect/>
          </a:stretch>
        </p:blipFill>
        <p:spPr>
          <a:xfrm>
            <a:off x="4677100" y="1075148"/>
            <a:ext cx="4443101" cy="820852"/>
          </a:xfrm>
          <a:prstGeom prst="rect">
            <a:avLst/>
          </a:prstGeom>
          <a:noFill/>
          <a:ln>
            <a:noFill/>
          </a:ln>
        </p:spPr>
      </p:pic>
      <p:pic>
        <p:nvPicPr>
          <p:cNvPr id="85" name="Google Shape;85;p17"/>
          <p:cNvPicPr preferRelativeResize="0"/>
          <p:nvPr/>
        </p:nvPicPr>
        <p:blipFill>
          <a:blip r:embed="rId6">
            <a:alphaModFix/>
          </a:blip>
          <a:stretch>
            <a:fillRect/>
          </a:stretch>
        </p:blipFill>
        <p:spPr>
          <a:xfrm>
            <a:off x="6292625" y="1954463"/>
            <a:ext cx="1212050" cy="1212050"/>
          </a:xfrm>
          <a:prstGeom prst="rect">
            <a:avLst/>
          </a:prstGeom>
          <a:noFill/>
          <a:ln>
            <a:noFill/>
          </a:ln>
        </p:spPr>
      </p:pic>
      <p:pic>
        <p:nvPicPr>
          <p:cNvPr id="86" name="Google Shape;86;p17"/>
          <p:cNvPicPr preferRelativeResize="0"/>
          <p:nvPr/>
        </p:nvPicPr>
        <p:blipFill rotWithShape="1">
          <a:blip r:embed="rId7">
            <a:alphaModFix/>
          </a:blip>
          <a:srcRect b="0" l="17944" r="9408" t="3855"/>
          <a:stretch/>
        </p:blipFill>
        <p:spPr>
          <a:xfrm>
            <a:off x="4588225" y="1884300"/>
            <a:ext cx="1578374" cy="1374900"/>
          </a:xfrm>
          <a:prstGeom prst="rect">
            <a:avLst/>
          </a:prstGeom>
          <a:noFill/>
          <a:ln>
            <a:noFill/>
          </a:ln>
        </p:spPr>
      </p:pic>
      <p:pic>
        <p:nvPicPr>
          <p:cNvPr id="87" name="Google Shape;87;p17"/>
          <p:cNvPicPr preferRelativeResize="0"/>
          <p:nvPr/>
        </p:nvPicPr>
        <p:blipFill rotWithShape="1">
          <a:blip r:embed="rId8">
            <a:alphaModFix/>
          </a:blip>
          <a:srcRect b="0" l="13794" r="3704" t="0"/>
          <a:stretch/>
        </p:blipFill>
        <p:spPr>
          <a:xfrm>
            <a:off x="7789100" y="1896000"/>
            <a:ext cx="1212050" cy="137350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Presentation options</a:t>
            </a:r>
            <a:endParaRPr/>
          </a:p>
          <a:p>
            <a:pPr indent="0" lvl="0" marL="0" rtl="0" algn="l">
              <a:spcBef>
                <a:spcPts val="0"/>
              </a:spcBef>
              <a:spcAft>
                <a:spcPts val="0"/>
              </a:spcAft>
              <a:buNone/>
            </a:pPr>
            <a:r>
              <a:t/>
            </a:r>
            <a:endParaRPr/>
          </a:p>
        </p:txBody>
      </p:sp>
      <p:sp>
        <p:nvSpPr>
          <p:cNvPr id="93" name="Google Shape;9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Catalyst </a:t>
            </a:r>
            <a:r>
              <a:rPr lang="en" sz="1400"/>
              <a:t>(Catalystranked.com)</a:t>
            </a:r>
            <a:endParaRPr sz="1400"/>
          </a:p>
          <a:p>
            <a:pPr indent="-317500" lvl="1" marL="914400" rtl="0" algn="l">
              <a:spcBef>
                <a:spcPts val="0"/>
              </a:spcBef>
              <a:spcAft>
                <a:spcPts val="0"/>
              </a:spcAft>
              <a:buSzPts val="1400"/>
              <a:buChar char="-"/>
            </a:pPr>
            <a:r>
              <a:rPr lang="en"/>
              <a:t>Stock pick social media</a:t>
            </a:r>
            <a:endParaRPr/>
          </a:p>
          <a:p>
            <a:pPr indent="-317500" lvl="1" marL="914400" rtl="0" algn="l">
              <a:spcBef>
                <a:spcPts val="0"/>
              </a:spcBef>
              <a:spcAft>
                <a:spcPts val="0"/>
              </a:spcAft>
              <a:buSzPts val="1400"/>
              <a:buChar char="-"/>
            </a:pPr>
            <a:r>
              <a:rPr lang="en"/>
              <a:t>Helps investors realize opportunity cost of their picks</a:t>
            </a:r>
            <a:endParaRPr/>
          </a:p>
          <a:p>
            <a:pPr indent="-317500" lvl="1" marL="914400" rtl="0" algn="l">
              <a:spcBef>
                <a:spcPts val="0"/>
              </a:spcBef>
              <a:spcAft>
                <a:spcPts val="0"/>
              </a:spcAft>
              <a:buSzPts val="1400"/>
              <a:buChar char="-"/>
            </a:pPr>
            <a:r>
              <a:rPr lang="en"/>
              <a:t>Phi is a metric similar to alpha but expressed as a multiple</a:t>
            </a:r>
            <a:endParaRPr/>
          </a:p>
          <a:p>
            <a:pPr indent="-317500" lvl="1" marL="914400" rtl="0" algn="l">
              <a:spcBef>
                <a:spcPts val="0"/>
              </a:spcBef>
              <a:spcAft>
                <a:spcPts val="0"/>
              </a:spcAft>
              <a:buSzPts val="1400"/>
              <a:buChar char="-"/>
            </a:pPr>
            <a:r>
              <a:rPr lang="en"/>
              <a:t>Has a leaderboard based on picked stock performance vs the S&amp;P 500</a:t>
            </a:r>
            <a:endParaRPr/>
          </a:p>
          <a:p>
            <a:pPr indent="-317500" lvl="1" marL="914400" rtl="0" algn="l">
              <a:spcBef>
                <a:spcPts val="0"/>
              </a:spcBef>
              <a:spcAft>
                <a:spcPts val="0"/>
              </a:spcAft>
              <a:buSzPts val="1400"/>
              <a:buChar char="-"/>
            </a:pPr>
            <a:r>
              <a:rPr lang="en"/>
              <a:t>Forces investors to cite reasons (pressures) they picked stocks not just say this stock will go up and to the right</a:t>
            </a:r>
            <a:endParaRPr/>
          </a:p>
          <a:p>
            <a:pPr indent="-317500" lvl="1" marL="914400" rtl="0" algn="l">
              <a:spcBef>
                <a:spcPts val="0"/>
              </a:spcBef>
              <a:spcAft>
                <a:spcPts val="0"/>
              </a:spcAft>
              <a:buSzPts val="1400"/>
              <a:buChar char="-"/>
            </a:pPr>
            <a:r>
              <a:rPr lang="en"/>
              <a:t>Has an AI news processing pipeline</a:t>
            </a:r>
            <a:endParaRPr/>
          </a:p>
          <a:p>
            <a:pPr indent="-317500" lvl="1" marL="914400" rtl="0" algn="l">
              <a:spcBef>
                <a:spcPts val="0"/>
              </a:spcBef>
              <a:spcAft>
                <a:spcPts val="0"/>
              </a:spcAft>
              <a:buSzPts val="1400"/>
              <a:buChar char="-"/>
            </a:pPr>
            <a:r>
              <a:rPr lang="en"/>
              <a:t>Tracks interest rate, CPI data and US bond market</a:t>
            </a:r>
            <a:endParaRPr/>
          </a:p>
          <a:p>
            <a:pPr indent="-317500" lvl="1" marL="914400" rtl="0" algn="l">
              <a:spcBef>
                <a:spcPts val="0"/>
              </a:spcBef>
              <a:spcAft>
                <a:spcPts val="0"/>
              </a:spcAft>
              <a:buSzPts val="1400"/>
              <a:buChar char="-"/>
            </a:pPr>
            <a:r>
              <a:rPr lang="en"/>
              <a:t>AI reasons through the user’s ideas with the context of the news pipeline to give a soundness rating for each cited pressure and what could go wrong to derail the idea and monitors news for that thing to adjust the score accordingly (does not affect rank)</a:t>
            </a:r>
            <a:endParaRPr/>
          </a:p>
          <a:p>
            <a:pPr indent="-317500" lvl="1" marL="914400" rtl="0" algn="l">
              <a:spcBef>
                <a:spcPts val="0"/>
              </a:spcBef>
              <a:spcAft>
                <a:spcPts val="0"/>
              </a:spcAft>
              <a:buSzPts val="1400"/>
              <a:buChar char="-"/>
            </a:pPr>
            <a:r>
              <a:rPr lang="en"/>
              <a:t>Has Alpaca and IBKR brokerage connections (paper accounts)</a:t>
            </a:r>
            <a:endParaRPr/>
          </a:p>
          <a:p>
            <a:pPr indent="0" lvl="0" marL="914400" rtl="0" algn="l">
              <a:spcBef>
                <a:spcPts val="1200"/>
              </a:spcBef>
              <a:spcAft>
                <a:spcPts val="1200"/>
              </a:spcAft>
              <a:buNone/>
            </a:pPr>
            <a:r>
              <a:t/>
            </a:r>
            <a:endParaRPr/>
          </a:p>
        </p:txBody>
      </p:sp>
      <p:pic>
        <p:nvPicPr>
          <p:cNvPr id="94" name="Google Shape;94;p18"/>
          <p:cNvPicPr preferRelativeResize="0"/>
          <p:nvPr/>
        </p:nvPicPr>
        <p:blipFill>
          <a:blip r:embed="rId3">
            <a:alphaModFix/>
          </a:blip>
          <a:stretch>
            <a:fillRect/>
          </a:stretch>
        </p:blipFill>
        <p:spPr>
          <a:xfrm>
            <a:off x="6327450" y="0"/>
            <a:ext cx="2604800" cy="18848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Presentation options</a:t>
            </a:r>
            <a:endParaRPr/>
          </a:p>
          <a:p>
            <a:pPr indent="0" lvl="0" marL="0" rtl="0" algn="l">
              <a:spcBef>
                <a:spcPts val="0"/>
              </a:spcBef>
              <a:spcAft>
                <a:spcPts val="0"/>
              </a:spcAft>
              <a:buNone/>
            </a:pPr>
            <a:r>
              <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Senior Capstone Project</a:t>
            </a:r>
            <a:endParaRPr/>
          </a:p>
          <a:p>
            <a:pPr indent="-304165" lvl="1" marL="914400" rtl="0" algn="l">
              <a:spcBef>
                <a:spcPts val="0"/>
              </a:spcBef>
              <a:spcAft>
                <a:spcPts val="0"/>
              </a:spcAft>
              <a:buSzPct val="100000"/>
              <a:buChar char="-"/>
            </a:pPr>
            <a:r>
              <a:rPr lang="en"/>
              <a:t>Published peer reviewed work in the scientific journal “Molecules”</a:t>
            </a:r>
            <a:endParaRPr/>
          </a:p>
          <a:p>
            <a:pPr indent="-304165" lvl="1" marL="914400" rtl="0" algn="l">
              <a:spcBef>
                <a:spcPts val="0"/>
              </a:spcBef>
              <a:spcAft>
                <a:spcPts val="0"/>
              </a:spcAft>
              <a:buSzPct val="100000"/>
              <a:buChar char="-"/>
            </a:pPr>
            <a:r>
              <a:rPr lang="en"/>
              <a:t>Using CDI to desalinate water using only electricity and a renewable carbon source </a:t>
            </a:r>
            <a:endParaRPr/>
          </a:p>
          <a:p>
            <a:pPr indent="-325755" lvl="0" marL="457200" rtl="0" algn="l">
              <a:spcBef>
                <a:spcPts val="0"/>
              </a:spcBef>
              <a:spcAft>
                <a:spcPts val="0"/>
              </a:spcAft>
              <a:buSzPct val="100000"/>
              <a:buChar char="-"/>
            </a:pPr>
            <a:r>
              <a:rPr lang="en"/>
              <a:t>Steps</a:t>
            </a:r>
            <a:endParaRPr/>
          </a:p>
          <a:p>
            <a:pPr indent="-304165" lvl="1" marL="914400" rtl="0" algn="l">
              <a:spcBef>
                <a:spcPts val="0"/>
              </a:spcBef>
              <a:spcAft>
                <a:spcPts val="0"/>
              </a:spcAft>
              <a:buSzPct val="100000"/>
              <a:buChar char="-"/>
            </a:pPr>
            <a:r>
              <a:rPr lang="en"/>
              <a:t>Start with algae: We used algae as a renewable carbon source.</a:t>
            </a:r>
            <a:endParaRPr/>
          </a:p>
          <a:p>
            <a:pPr indent="-304165" lvl="1" marL="914400" rtl="0" algn="l">
              <a:spcBef>
                <a:spcPts val="0"/>
              </a:spcBef>
              <a:spcAft>
                <a:spcPts val="0"/>
              </a:spcAft>
              <a:buSzPct val="100000"/>
              <a:buChar char="-"/>
            </a:pPr>
            <a:r>
              <a:rPr lang="en"/>
              <a:t>Heat with water: The algae was heated to 250 C with water in a sealed hydrothermal reactor, carbonizing the algae while the water pulled out polar impurities.</a:t>
            </a:r>
            <a:endParaRPr/>
          </a:p>
          <a:p>
            <a:pPr indent="-304165" lvl="1" marL="914400" rtl="0" algn="l">
              <a:spcBef>
                <a:spcPts val="0"/>
              </a:spcBef>
              <a:spcAft>
                <a:spcPts val="0"/>
              </a:spcAft>
              <a:buSzPct val="100000"/>
              <a:buChar char="-"/>
            </a:pPr>
            <a:r>
              <a:rPr lang="en"/>
              <a:t>Heat again under nitrogen to carbonize: The resulting tar was then heated to 800 C under nitrogen, ensuring the carbon didn't combust.</a:t>
            </a:r>
            <a:endParaRPr/>
          </a:p>
          <a:p>
            <a:pPr indent="-304165" lvl="1" marL="914400" rtl="0" algn="l">
              <a:spcBef>
                <a:spcPts val="0"/>
              </a:spcBef>
              <a:spcAft>
                <a:spcPts val="0"/>
              </a:spcAft>
              <a:buSzPct val="100000"/>
              <a:buChar char="-"/>
            </a:pPr>
            <a:r>
              <a:rPr lang="en"/>
              <a:t>Activate with KOH: The carbon was mixed with potassium hydroxide and heated again to 1000 C under nitrogen. This produced a huge network of tiny pores that gave the carbon high surface area in order to better hold the ions. (1,747 m^2/g of carbon ~⅓ of a football field)</a:t>
            </a:r>
            <a:endParaRPr/>
          </a:p>
          <a:p>
            <a:pPr indent="-304165" lvl="1" marL="914400" rtl="0" algn="l">
              <a:spcBef>
                <a:spcPts val="0"/>
              </a:spcBef>
              <a:spcAft>
                <a:spcPts val="0"/>
              </a:spcAft>
              <a:buSzPct val="100000"/>
              <a:buChar char="-"/>
            </a:pPr>
            <a:r>
              <a:rPr lang="en"/>
              <a:t>Coat it onto electrodes: The activated carbon was made into an organic slurry, coated onto graphite sheets, and then allowed to evaporate in order to form the coated electrodes.</a:t>
            </a:r>
            <a:endParaRPr/>
          </a:p>
          <a:p>
            <a:pPr indent="-304165" lvl="1" marL="914400" rtl="0" algn="l">
              <a:spcBef>
                <a:spcPts val="0"/>
              </a:spcBef>
              <a:spcAft>
                <a:spcPts val="0"/>
              </a:spcAft>
              <a:buSzPct val="100000"/>
              <a:buChar char="-"/>
            </a:pPr>
            <a:r>
              <a:rPr lang="en"/>
              <a:t>Run the cell: The electrodes were assembled with ion-exchange membranes, and water with salts was run through the middle channel. A low voltage was applied, and the electricity pulled the ions across the membrane, and into the pockets of the activated carbon electrodes. By flipping the voltage, the electrodes could be cleaned for reuse.</a:t>
            </a:r>
            <a:endParaRPr/>
          </a:p>
        </p:txBody>
      </p:sp>
      <p:pic>
        <p:nvPicPr>
          <p:cNvPr id="101" name="Google Shape;101;p19"/>
          <p:cNvPicPr preferRelativeResize="0"/>
          <p:nvPr/>
        </p:nvPicPr>
        <p:blipFill>
          <a:blip r:embed="rId3">
            <a:alphaModFix/>
          </a:blip>
          <a:stretch>
            <a:fillRect/>
          </a:stretch>
        </p:blipFill>
        <p:spPr>
          <a:xfrm>
            <a:off x="6441300" y="0"/>
            <a:ext cx="2702700" cy="1660925"/>
          </a:xfrm>
          <a:prstGeom prst="rect">
            <a:avLst/>
          </a:prstGeom>
          <a:noFill/>
          <a:ln>
            <a:noFill/>
          </a:ln>
        </p:spPr>
      </p:pic>
      <p:pic>
        <p:nvPicPr>
          <p:cNvPr descr="A device with wires and a container with liquid&#10;&#10;AI-generated content may be incorrect." id="102" name="Google Shape;102;p19"/>
          <p:cNvPicPr preferRelativeResize="0"/>
          <p:nvPr/>
        </p:nvPicPr>
        <p:blipFill rotWithShape="1">
          <a:blip r:embed="rId4">
            <a:alphaModFix/>
          </a:blip>
          <a:srcRect b="0" l="0" r="0" t="0"/>
          <a:stretch/>
        </p:blipFill>
        <p:spPr>
          <a:xfrm>
            <a:off x="3386125" y="21262"/>
            <a:ext cx="3055174" cy="1420226"/>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Hardware</a:t>
            </a:r>
            <a:r>
              <a:rPr lang="en"/>
              <a:t> project</a:t>
            </a:r>
            <a:endParaRPr/>
          </a:p>
        </p:txBody>
      </p:sp>
      <p:sp>
        <p:nvSpPr>
          <p:cNvPr id="108" name="Google Shape;10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Performance prop </a:t>
            </a:r>
            <a:r>
              <a:rPr lang="en"/>
              <a:t>similar</a:t>
            </a:r>
            <a:r>
              <a:rPr lang="en"/>
              <a:t> to juggling, fire staffs or poi</a:t>
            </a:r>
            <a:endParaRPr/>
          </a:p>
          <a:p>
            <a:pPr indent="-342900" lvl="0" marL="457200" rtl="0" algn="l">
              <a:spcBef>
                <a:spcPts val="0"/>
              </a:spcBef>
              <a:spcAft>
                <a:spcPts val="0"/>
              </a:spcAft>
              <a:buSzPts val="1800"/>
              <a:buChar char="-"/>
            </a:pPr>
            <a:r>
              <a:rPr lang="en"/>
              <a:t>Has pov display functionality so it paints an </a:t>
            </a:r>
            <a:r>
              <a:rPr lang="en"/>
              <a:t>image</a:t>
            </a:r>
            <a:r>
              <a:rPr lang="en"/>
              <a:t> in the air</a:t>
            </a:r>
            <a:endParaRPr/>
          </a:p>
          <a:p>
            <a:pPr indent="-342900" lvl="0" marL="457200" rtl="0" algn="l">
              <a:spcBef>
                <a:spcPts val="0"/>
              </a:spcBef>
              <a:spcAft>
                <a:spcPts val="0"/>
              </a:spcAft>
              <a:buSzPts val="1800"/>
              <a:buChar char="-"/>
            </a:pPr>
            <a:r>
              <a:rPr lang="en"/>
              <a:t>Something that didn’t previously exist that I wanted to exist</a:t>
            </a:r>
            <a:endParaRPr/>
          </a:p>
        </p:txBody>
      </p:sp>
      <p:pic>
        <p:nvPicPr>
          <p:cNvPr id="109" name="Google Shape;109;p20"/>
          <p:cNvPicPr preferRelativeResize="0"/>
          <p:nvPr/>
        </p:nvPicPr>
        <p:blipFill>
          <a:blip r:embed="rId3">
            <a:alphaModFix/>
          </a:blip>
          <a:stretch>
            <a:fillRect/>
          </a:stretch>
        </p:blipFill>
        <p:spPr>
          <a:xfrm>
            <a:off x="0" y="2711150"/>
            <a:ext cx="2432351" cy="2432351"/>
          </a:xfrm>
          <a:prstGeom prst="rect">
            <a:avLst/>
          </a:prstGeom>
          <a:noFill/>
          <a:ln>
            <a:noFill/>
          </a:ln>
        </p:spPr>
      </p:pic>
      <p:pic>
        <p:nvPicPr>
          <p:cNvPr id="110" name="Google Shape;110;p20"/>
          <p:cNvPicPr preferRelativeResize="0"/>
          <p:nvPr/>
        </p:nvPicPr>
        <p:blipFill>
          <a:blip r:embed="rId4">
            <a:alphaModFix/>
          </a:blip>
          <a:stretch>
            <a:fillRect/>
          </a:stretch>
        </p:blipFill>
        <p:spPr>
          <a:xfrm>
            <a:off x="7522426" y="2711150"/>
            <a:ext cx="1621574" cy="2432350"/>
          </a:xfrm>
          <a:prstGeom prst="rect">
            <a:avLst/>
          </a:prstGeom>
          <a:noFill/>
          <a:ln>
            <a:noFill/>
          </a:ln>
        </p:spPr>
      </p:pic>
      <p:pic>
        <p:nvPicPr>
          <p:cNvPr id="111" name="Google Shape;111;p20"/>
          <p:cNvPicPr preferRelativeResize="0"/>
          <p:nvPr/>
        </p:nvPicPr>
        <p:blipFill>
          <a:blip r:embed="rId5">
            <a:alphaModFix/>
          </a:blip>
          <a:stretch>
            <a:fillRect/>
          </a:stretch>
        </p:blipFill>
        <p:spPr>
          <a:xfrm>
            <a:off x="6989825" y="-7"/>
            <a:ext cx="2154175" cy="1615650"/>
          </a:xfrm>
          <a:prstGeom prst="rect">
            <a:avLst/>
          </a:prstGeom>
          <a:noFill/>
          <a:ln>
            <a:noFill/>
          </a:ln>
        </p:spPr>
      </p:pic>
      <p:pic>
        <p:nvPicPr>
          <p:cNvPr id="112" name="Google Shape;112;p20"/>
          <p:cNvPicPr preferRelativeResize="0"/>
          <p:nvPr/>
        </p:nvPicPr>
        <p:blipFill rotWithShape="1">
          <a:blip r:embed="rId6">
            <a:alphaModFix/>
          </a:blip>
          <a:srcRect b="25916" l="30466" r="17499" t="19786"/>
          <a:stretch/>
        </p:blipFill>
        <p:spPr>
          <a:xfrm>
            <a:off x="5357089" y="2711150"/>
            <a:ext cx="1748110" cy="2432348"/>
          </a:xfrm>
          <a:prstGeom prst="rect">
            <a:avLst/>
          </a:prstGeom>
          <a:noFill/>
          <a:ln>
            <a:noFill/>
          </a:ln>
        </p:spPr>
      </p:pic>
      <p:pic>
        <p:nvPicPr>
          <p:cNvPr id="113" name="Google Shape;113;p20"/>
          <p:cNvPicPr preferRelativeResize="0"/>
          <p:nvPr/>
        </p:nvPicPr>
        <p:blipFill rotWithShape="1">
          <a:blip r:embed="rId7">
            <a:alphaModFix/>
          </a:blip>
          <a:srcRect b="0" l="19190" r="19479" t="1507"/>
          <a:stretch/>
        </p:blipFill>
        <p:spPr>
          <a:xfrm>
            <a:off x="2667950" y="2711150"/>
            <a:ext cx="2271918" cy="2432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Xcimer</a:t>
            </a:r>
            <a:endParaRPr/>
          </a:p>
        </p:txBody>
      </p:sp>
      <p:sp>
        <p:nvSpPr>
          <p:cNvPr id="119" name="Google Shape;11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Livermore’s NIF proved a fusion shot can release more energy than its laser delivers</a:t>
            </a:r>
            <a:endParaRPr/>
          </a:p>
          <a:p>
            <a:pPr indent="-325755" lvl="0" marL="457200" rtl="0" algn="l">
              <a:spcBef>
                <a:spcPts val="0"/>
              </a:spcBef>
              <a:spcAft>
                <a:spcPts val="0"/>
              </a:spcAft>
              <a:buSzPct val="100000"/>
              <a:buChar char="-"/>
            </a:pPr>
            <a:r>
              <a:rPr lang="en"/>
              <a:t>If scaled up with a bigger, more efficient laser, the same approach could produce net positive power </a:t>
            </a:r>
            <a:endParaRPr/>
          </a:p>
          <a:p>
            <a:pPr indent="-325755" lvl="0" marL="457200" rtl="0" algn="l">
              <a:spcBef>
                <a:spcPts val="0"/>
              </a:spcBef>
              <a:spcAft>
                <a:spcPts val="0"/>
              </a:spcAft>
              <a:buSzPct val="100000"/>
              <a:buChar char="-"/>
            </a:pPr>
            <a:r>
              <a:rPr lang="en"/>
              <a:t>Xcimer is doing something that I believe is necessary to advance civilization</a:t>
            </a:r>
            <a:endParaRPr/>
          </a:p>
          <a:p>
            <a:pPr indent="-325755" lvl="0" marL="457200" rtl="0" algn="l">
              <a:spcBef>
                <a:spcPts val="0"/>
              </a:spcBef>
              <a:spcAft>
                <a:spcPts val="0"/>
              </a:spcAft>
              <a:buSzPct val="100000"/>
              <a:buChar char="-"/>
            </a:pPr>
            <a:r>
              <a:rPr lang="en"/>
              <a:t>I have always been interested in cutting edge science</a:t>
            </a:r>
            <a:endParaRPr/>
          </a:p>
          <a:p>
            <a:pPr indent="-325755" lvl="0" marL="457200" rtl="0" algn="l">
              <a:spcBef>
                <a:spcPts val="0"/>
              </a:spcBef>
              <a:spcAft>
                <a:spcPts val="0"/>
              </a:spcAft>
              <a:buSzPct val="100000"/>
              <a:buChar char="-"/>
            </a:pPr>
            <a:r>
              <a:rPr lang="en"/>
              <a:t>My background is in process engineering and I could provide root cause analysis to diagnose issues with parts from manufacturers, find out what failed, why and how to prevent it in the future</a:t>
            </a:r>
            <a:endParaRPr/>
          </a:p>
          <a:p>
            <a:pPr indent="-325755" lvl="0" marL="457200" rtl="0" algn="l">
              <a:spcBef>
                <a:spcPts val="0"/>
              </a:spcBef>
              <a:spcAft>
                <a:spcPts val="0"/>
              </a:spcAft>
              <a:buSzPct val="100000"/>
              <a:buChar char="-"/>
            </a:pPr>
            <a:r>
              <a:rPr lang="en"/>
              <a:t>I’m interested in a fast paced environment with a tight loop between when something gets built and when it gets tested</a:t>
            </a:r>
            <a:endParaRPr/>
          </a:p>
          <a:p>
            <a:pPr indent="-325755" lvl="0" marL="457200" rtl="0" algn="l">
              <a:spcBef>
                <a:spcPts val="0"/>
              </a:spcBef>
              <a:spcAft>
                <a:spcPts val="0"/>
              </a:spcAft>
              <a:buSzPct val="100000"/>
              <a:buChar char="-"/>
            </a:pPr>
            <a:r>
              <a:rPr lang="en"/>
              <a:t>I enjoy learning new things and I believe I could grow and develop here</a:t>
            </a:r>
            <a:endParaRPr/>
          </a:p>
          <a:p>
            <a:pPr indent="-325755" lvl="0" marL="457200" rtl="0" algn="l">
              <a:spcBef>
                <a:spcPts val="0"/>
              </a:spcBef>
              <a:spcAft>
                <a:spcPts val="0"/>
              </a:spcAft>
              <a:buSzPct val="100000"/>
              <a:buChar char="-"/>
            </a:pPr>
            <a:r>
              <a:rPr lang="en"/>
              <a:t>I believe having this technology in the world would be a better future than one without it and would love to be a part of this ambitious project to make that vision a reality.</a:t>
            </a:r>
            <a:endParaRPr/>
          </a:p>
        </p:txBody>
      </p:sp>
      <p:pic>
        <p:nvPicPr>
          <p:cNvPr id="120" name="Google Shape;120;p21"/>
          <p:cNvPicPr preferRelativeResize="0"/>
          <p:nvPr/>
        </p:nvPicPr>
        <p:blipFill>
          <a:blip r:embed="rId3">
            <a:alphaModFix/>
          </a:blip>
          <a:stretch>
            <a:fillRect/>
          </a:stretch>
        </p:blipFill>
        <p:spPr>
          <a:xfrm>
            <a:off x="7887275" y="0"/>
            <a:ext cx="1256725" cy="1732800"/>
          </a:xfrm>
          <a:prstGeom prst="rect">
            <a:avLst/>
          </a:prstGeom>
          <a:noFill/>
          <a:ln>
            <a:noFill/>
          </a:ln>
        </p:spPr>
      </p:pic>
      <p:sp>
        <p:nvSpPr>
          <p:cNvPr id="121" name="Google Shape;121;p21"/>
          <p:cNvSpPr txBox="1"/>
          <p:nvPr/>
        </p:nvSpPr>
        <p:spPr>
          <a:xfrm>
            <a:off x="8060250" y="1599500"/>
            <a:ext cx="1083900" cy="7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(HYLIFE reactor)</a:t>
            </a:r>
            <a:endParaRPr sz="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Passion project- what is it?</a:t>
            </a:r>
            <a:endParaRPr/>
          </a:p>
          <a:p>
            <a:pPr indent="0" lvl="0" marL="0" rtl="0" algn="l">
              <a:spcBef>
                <a:spcPts val="0"/>
              </a:spcBef>
              <a:spcAft>
                <a:spcPts val="0"/>
              </a:spcAft>
              <a:buNone/>
            </a:pPr>
            <a:r>
              <a:t/>
            </a:r>
            <a:endParaRPr/>
          </a:p>
        </p:txBody>
      </p:sp>
      <p:sp>
        <p:nvSpPr>
          <p:cNvPr id="127" name="Google Shape;127;p22"/>
          <p:cNvSpPr txBox="1"/>
          <p:nvPr>
            <p:ph idx="1" type="body"/>
          </p:nvPr>
        </p:nvSpPr>
        <p:spPr>
          <a:xfrm>
            <a:off x="311700" y="1152475"/>
            <a:ext cx="68391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Hardware passion project</a:t>
            </a:r>
            <a:endParaRPr/>
          </a:p>
          <a:p>
            <a:pPr indent="-317500" lvl="1" marL="914400" rtl="0" algn="l">
              <a:spcBef>
                <a:spcPts val="0"/>
              </a:spcBef>
              <a:spcAft>
                <a:spcPts val="0"/>
              </a:spcAft>
              <a:buSzPts val="1400"/>
              <a:buChar char="-"/>
            </a:pPr>
            <a:r>
              <a:rPr lang="en"/>
              <a:t>Uses 34 LEDs per handle driven by an ESP32s and an IMU to display POV effects </a:t>
            </a:r>
            <a:endParaRPr/>
          </a:p>
          <a:p>
            <a:pPr indent="-317500" lvl="1" marL="914400" rtl="0" algn="l">
              <a:spcBef>
                <a:spcPts val="0"/>
              </a:spcBef>
              <a:spcAft>
                <a:spcPts val="0"/>
              </a:spcAft>
              <a:buSzPts val="1400"/>
              <a:buChar char="-"/>
            </a:pPr>
            <a:r>
              <a:rPr lang="en"/>
              <a:t>Development in progress this project is 100% mine</a:t>
            </a:r>
            <a:endParaRPr/>
          </a:p>
          <a:p>
            <a:pPr indent="-317500" lvl="1" marL="914400" rtl="0" algn="l">
              <a:spcBef>
                <a:spcPts val="0"/>
              </a:spcBef>
              <a:spcAft>
                <a:spcPts val="0"/>
              </a:spcAft>
              <a:buSzPts val="1400"/>
              <a:buChar char="-"/>
            </a:pPr>
            <a:r>
              <a:rPr lang="en"/>
              <a:t>Iterative design process</a:t>
            </a:r>
            <a:endParaRPr/>
          </a:p>
        </p:txBody>
      </p:sp>
      <p:pic>
        <p:nvPicPr>
          <p:cNvPr id="128" name="Google Shape;128;p22"/>
          <p:cNvPicPr preferRelativeResize="0"/>
          <p:nvPr/>
        </p:nvPicPr>
        <p:blipFill rotWithShape="1">
          <a:blip r:embed="rId3">
            <a:alphaModFix/>
          </a:blip>
          <a:srcRect b="25916" l="30466" r="17499" t="19786"/>
          <a:stretch/>
        </p:blipFill>
        <p:spPr>
          <a:xfrm>
            <a:off x="7036384" y="1152475"/>
            <a:ext cx="2107615" cy="2932552"/>
          </a:xfrm>
          <a:prstGeom prst="rect">
            <a:avLst/>
          </a:prstGeom>
          <a:noFill/>
          <a:ln>
            <a:noFill/>
          </a:ln>
        </p:spPr>
      </p:pic>
      <p:pic>
        <p:nvPicPr>
          <p:cNvPr id="129" name="Google Shape;129;p22"/>
          <p:cNvPicPr preferRelativeResize="0"/>
          <p:nvPr/>
        </p:nvPicPr>
        <p:blipFill rotWithShape="1">
          <a:blip r:embed="rId4">
            <a:alphaModFix/>
          </a:blip>
          <a:srcRect b="56961" l="26809" r="31793" t="0"/>
          <a:stretch/>
        </p:blipFill>
        <p:spPr>
          <a:xfrm>
            <a:off x="0" y="3581600"/>
            <a:ext cx="1971550" cy="1561900"/>
          </a:xfrm>
          <a:prstGeom prst="rect">
            <a:avLst/>
          </a:prstGeom>
          <a:noFill/>
          <a:ln>
            <a:noFill/>
          </a:ln>
        </p:spPr>
      </p:pic>
      <p:pic>
        <p:nvPicPr>
          <p:cNvPr id="130" name="Google Shape;130;p22"/>
          <p:cNvPicPr preferRelativeResize="0"/>
          <p:nvPr/>
        </p:nvPicPr>
        <p:blipFill rotWithShape="1">
          <a:blip r:embed="rId5">
            <a:alphaModFix/>
          </a:blip>
          <a:srcRect b="12867" l="16216" r="13554" t="11758"/>
          <a:stretch/>
        </p:blipFill>
        <p:spPr>
          <a:xfrm>
            <a:off x="3127850" y="3283575"/>
            <a:ext cx="1740125" cy="1867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Passion project: </a:t>
            </a:r>
            <a:r>
              <a:rPr lang="en"/>
              <a:t>material</a:t>
            </a:r>
            <a:r>
              <a:rPr lang="en"/>
              <a:t> choice	</a:t>
            </a:r>
            <a:endParaRPr/>
          </a:p>
          <a:p>
            <a:pPr indent="0" lvl="0" marL="0" rtl="0" algn="l">
              <a:spcBef>
                <a:spcPts val="0"/>
              </a:spcBef>
              <a:spcAft>
                <a:spcPts val="0"/>
              </a:spcAft>
              <a:buNone/>
            </a:pPr>
            <a:r>
              <a:t/>
            </a:r>
            <a:endParaRPr/>
          </a:p>
        </p:txBody>
      </p:sp>
      <p:sp>
        <p:nvSpPr>
          <p:cNvPr id="136" name="Google Shape;136;p23"/>
          <p:cNvSpPr txBox="1"/>
          <p:nvPr>
            <p:ph idx="1" type="body"/>
          </p:nvPr>
        </p:nvSpPr>
        <p:spPr>
          <a:xfrm>
            <a:off x="311700" y="1152475"/>
            <a:ext cx="70665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For this project, I wanted to 3d print the </a:t>
            </a:r>
            <a:r>
              <a:rPr lang="en"/>
              <a:t>prototypes</a:t>
            </a:r>
            <a:r>
              <a:rPr lang="en"/>
              <a:t> to get fast development</a:t>
            </a:r>
            <a:endParaRPr/>
          </a:p>
          <a:p>
            <a:pPr indent="-334328" lvl="0" marL="457200" rtl="0" algn="l">
              <a:spcBef>
                <a:spcPts val="0"/>
              </a:spcBef>
              <a:spcAft>
                <a:spcPts val="0"/>
              </a:spcAft>
              <a:buSzPct val="100000"/>
              <a:buChar char="-"/>
            </a:pPr>
            <a:r>
              <a:rPr lang="en"/>
              <a:t>I needed a </a:t>
            </a:r>
            <a:r>
              <a:rPr lang="en"/>
              <a:t>strong</a:t>
            </a:r>
            <a:r>
              <a:rPr lang="en"/>
              <a:t> material that could survive repeated impact and </a:t>
            </a:r>
            <a:r>
              <a:rPr lang="en"/>
              <a:t>maintain</a:t>
            </a:r>
            <a:r>
              <a:rPr lang="en"/>
              <a:t> its shape</a:t>
            </a:r>
            <a:endParaRPr/>
          </a:p>
          <a:p>
            <a:pPr indent="-334328" lvl="0" marL="457200" rtl="0" algn="l">
              <a:spcBef>
                <a:spcPts val="0"/>
              </a:spcBef>
              <a:spcAft>
                <a:spcPts val="0"/>
              </a:spcAft>
              <a:buSzPct val="100000"/>
              <a:buChar char="-"/>
            </a:pPr>
            <a:r>
              <a:rPr lang="en"/>
              <a:t>I was between carbon fiber nylon and PET CF</a:t>
            </a:r>
            <a:endParaRPr/>
          </a:p>
          <a:p>
            <a:pPr indent="-334328" lvl="0" marL="457200" rtl="0" algn="l">
              <a:spcBef>
                <a:spcPts val="0"/>
              </a:spcBef>
              <a:spcAft>
                <a:spcPts val="0"/>
              </a:spcAft>
              <a:buSzPct val="100000"/>
              <a:buChar char="-"/>
            </a:pPr>
            <a:r>
              <a:rPr lang="en"/>
              <a:t>Went with fiber nylon for impact resistance</a:t>
            </a:r>
            <a:endParaRPr/>
          </a:p>
          <a:p>
            <a:pPr indent="-334328" lvl="0" marL="457200" rtl="0" algn="l">
              <a:spcBef>
                <a:spcPts val="0"/>
              </a:spcBef>
              <a:spcAft>
                <a:spcPts val="0"/>
              </a:spcAft>
              <a:buSzPct val="100000"/>
              <a:buChar char="-"/>
            </a:pPr>
            <a:r>
              <a:rPr lang="en"/>
              <a:t>Issue:</a:t>
            </a:r>
            <a:endParaRPr/>
          </a:p>
          <a:p>
            <a:pPr indent="-310832" lvl="1" marL="914400" rtl="0" algn="l">
              <a:spcBef>
                <a:spcPts val="0"/>
              </a:spcBef>
              <a:spcAft>
                <a:spcPts val="0"/>
              </a:spcAft>
              <a:buSzPct val="100000"/>
              <a:buChar char="-"/>
            </a:pPr>
            <a:r>
              <a:rPr lang="en"/>
              <a:t>Carbon fiber nylon when handled can leave small fibers, irritating the skin</a:t>
            </a:r>
            <a:endParaRPr/>
          </a:p>
          <a:p>
            <a:pPr indent="-310832" lvl="1" marL="914400" rtl="0" algn="l">
              <a:spcBef>
                <a:spcPts val="0"/>
              </a:spcBef>
              <a:spcAft>
                <a:spcPts val="0"/>
              </a:spcAft>
              <a:buSzPct val="100000"/>
              <a:buChar char="-"/>
            </a:pPr>
            <a:r>
              <a:rPr lang="en"/>
              <a:t>Carbon fiber </a:t>
            </a:r>
            <a:r>
              <a:rPr lang="en"/>
              <a:t>absorbs</a:t>
            </a:r>
            <a:r>
              <a:rPr lang="en"/>
              <a:t> water and swells if not sealed</a:t>
            </a:r>
            <a:endParaRPr/>
          </a:p>
          <a:p>
            <a:pPr indent="-334328" lvl="0" marL="457200" rtl="0" algn="l">
              <a:spcBef>
                <a:spcPts val="0"/>
              </a:spcBef>
              <a:spcAft>
                <a:spcPts val="0"/>
              </a:spcAft>
              <a:buSzPct val="100000"/>
              <a:buChar char="-"/>
            </a:pPr>
            <a:r>
              <a:rPr lang="en"/>
              <a:t>Solution:</a:t>
            </a:r>
            <a:endParaRPr/>
          </a:p>
          <a:p>
            <a:pPr indent="-310832" lvl="1" marL="914400" rtl="0" algn="l">
              <a:spcBef>
                <a:spcPts val="0"/>
              </a:spcBef>
              <a:spcAft>
                <a:spcPts val="0"/>
              </a:spcAft>
              <a:buSzPct val="100000"/>
              <a:buChar char="-"/>
            </a:pPr>
            <a:r>
              <a:rPr lang="en"/>
              <a:t>Coat the fibers in ca glue freshly after printing, wicking into the layer lines, then sand down for a smooth </a:t>
            </a:r>
            <a:r>
              <a:rPr lang="en"/>
              <a:t>finish</a:t>
            </a:r>
            <a:r>
              <a:rPr lang="en"/>
              <a:t> and seal </a:t>
            </a:r>
            <a:r>
              <a:rPr lang="en"/>
              <a:t>with</a:t>
            </a:r>
            <a:r>
              <a:rPr lang="en"/>
              <a:t> wipe on </a:t>
            </a:r>
            <a:r>
              <a:rPr lang="en"/>
              <a:t>polyurethane</a:t>
            </a:r>
            <a:r>
              <a:rPr lang="en"/>
              <a:t> and a </a:t>
            </a:r>
            <a:r>
              <a:rPr lang="en"/>
              <a:t>carnauba</a:t>
            </a:r>
            <a:r>
              <a:rPr lang="en"/>
              <a:t> wax coating for </a:t>
            </a:r>
            <a:r>
              <a:rPr lang="en"/>
              <a:t>additional</a:t>
            </a:r>
            <a:r>
              <a:rPr lang="en"/>
              <a:t> scratch </a:t>
            </a:r>
            <a:r>
              <a:rPr lang="en"/>
              <a:t>resistance. This allows me to</a:t>
            </a:r>
            <a:r>
              <a:rPr lang="en"/>
              <a:t> use carbon fiber nylon for its </a:t>
            </a:r>
            <a:r>
              <a:rPr lang="en"/>
              <a:t>strength</a:t>
            </a:r>
            <a:r>
              <a:rPr lang="en"/>
              <a:t> while engineering around its </a:t>
            </a:r>
            <a:r>
              <a:rPr lang="en"/>
              <a:t>weaknesses</a:t>
            </a:r>
            <a:endParaRPr/>
          </a:p>
        </p:txBody>
      </p:sp>
      <p:pic>
        <p:nvPicPr>
          <p:cNvPr id="137" name="Google Shape;137;p23"/>
          <p:cNvPicPr preferRelativeResize="0"/>
          <p:nvPr/>
        </p:nvPicPr>
        <p:blipFill>
          <a:blip r:embed="rId3">
            <a:alphaModFix/>
          </a:blip>
          <a:stretch>
            <a:fillRect/>
          </a:stretch>
        </p:blipFill>
        <p:spPr>
          <a:xfrm>
            <a:off x="7033100" y="0"/>
            <a:ext cx="2110899" cy="29497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Passion project- Early development	</a:t>
            </a:r>
            <a:endParaRPr/>
          </a:p>
        </p:txBody>
      </p:sp>
      <p:sp>
        <p:nvSpPr>
          <p:cNvPr id="143" name="Google Shape;143;p24"/>
          <p:cNvSpPr txBox="1"/>
          <p:nvPr>
            <p:ph idx="1" type="body"/>
          </p:nvPr>
        </p:nvSpPr>
        <p:spPr>
          <a:xfrm>
            <a:off x="311700" y="1152475"/>
            <a:ext cx="6814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 knew the general shape and feel I wanted but there's an issue</a:t>
            </a:r>
            <a:endParaRPr/>
          </a:p>
          <a:p>
            <a:pPr indent="-342900" lvl="0" marL="457200" rtl="0" algn="l">
              <a:spcBef>
                <a:spcPts val="0"/>
              </a:spcBef>
              <a:spcAft>
                <a:spcPts val="0"/>
              </a:spcAft>
              <a:buSzPts val="1800"/>
              <a:buChar char="-"/>
            </a:pPr>
            <a:r>
              <a:rPr lang="en"/>
              <a:t>Traditional balisongs have the blade portion run the entire spine</a:t>
            </a:r>
            <a:endParaRPr/>
          </a:p>
          <a:p>
            <a:pPr indent="-342900" lvl="0" marL="457200" rtl="0" algn="l">
              <a:spcBef>
                <a:spcPts val="0"/>
              </a:spcBef>
              <a:spcAft>
                <a:spcPts val="0"/>
              </a:spcAft>
              <a:buSzPts val="1800"/>
              <a:buChar char="-"/>
            </a:pPr>
            <a:r>
              <a:rPr lang="en"/>
              <a:t>I have to allow room for electronic components</a:t>
            </a:r>
            <a:endParaRPr/>
          </a:p>
          <a:p>
            <a:pPr indent="-342900" lvl="0" marL="457200" rtl="0" algn="l">
              <a:spcBef>
                <a:spcPts val="0"/>
              </a:spcBef>
              <a:spcAft>
                <a:spcPts val="0"/>
              </a:spcAft>
              <a:buSzPts val="1800"/>
              <a:buChar char="-"/>
            </a:pPr>
            <a:r>
              <a:rPr lang="en"/>
              <a:t>This</a:t>
            </a:r>
            <a:r>
              <a:rPr lang="en"/>
              <a:t> throws the weight </a:t>
            </a:r>
            <a:r>
              <a:rPr lang="en"/>
              <a:t>distribution</a:t>
            </a:r>
            <a:r>
              <a:rPr lang="en"/>
              <a:t> off</a:t>
            </a:r>
            <a:endParaRPr/>
          </a:p>
          <a:p>
            <a:pPr indent="-342900" lvl="0" marL="457200" rtl="0" algn="l">
              <a:spcBef>
                <a:spcPts val="0"/>
              </a:spcBef>
              <a:spcAft>
                <a:spcPts val="0"/>
              </a:spcAft>
              <a:buSzPts val="1800"/>
              <a:buChar char="-"/>
            </a:pPr>
            <a:r>
              <a:rPr lang="en"/>
              <a:t>Solution?</a:t>
            </a:r>
            <a:endParaRPr/>
          </a:p>
          <a:p>
            <a:pPr indent="-317500" lvl="1" marL="914400" rtl="0" algn="l">
              <a:spcBef>
                <a:spcPts val="0"/>
              </a:spcBef>
              <a:spcAft>
                <a:spcPts val="0"/>
              </a:spcAft>
              <a:buSzPts val="1400"/>
              <a:buChar char="-"/>
            </a:pPr>
            <a:r>
              <a:rPr lang="en"/>
              <a:t>Tungsten</a:t>
            </a:r>
            <a:r>
              <a:rPr lang="en"/>
              <a:t> loaded epoxy as the blade portion</a:t>
            </a:r>
            <a:endParaRPr/>
          </a:p>
          <a:p>
            <a:pPr indent="-317500" lvl="1" marL="914400" rtl="0" algn="l">
              <a:spcBef>
                <a:spcPts val="0"/>
              </a:spcBef>
              <a:spcAft>
                <a:spcPts val="0"/>
              </a:spcAft>
              <a:buSzPts val="1400"/>
              <a:buChar char="-"/>
            </a:pPr>
            <a:r>
              <a:rPr lang="en"/>
              <a:t>This </a:t>
            </a:r>
            <a:r>
              <a:rPr lang="en"/>
              <a:t>counterbalances</a:t>
            </a:r>
            <a:r>
              <a:rPr lang="en"/>
              <a:t> </a:t>
            </a:r>
            <a:r>
              <a:rPr lang="en"/>
              <a:t>the</a:t>
            </a:r>
            <a:r>
              <a:rPr lang="en"/>
              <a:t> </a:t>
            </a:r>
            <a:r>
              <a:rPr lang="en"/>
              <a:t>batteries</a:t>
            </a:r>
            <a:r>
              <a:rPr lang="en"/>
              <a:t> that are in the handle and the added weight is </a:t>
            </a:r>
            <a:r>
              <a:rPr lang="en"/>
              <a:t>necessary</a:t>
            </a:r>
            <a:r>
              <a:rPr lang="en"/>
              <a:t> to bring the center of mass </a:t>
            </a:r>
            <a:r>
              <a:rPr lang="en"/>
              <a:t>towards</a:t>
            </a:r>
            <a:r>
              <a:rPr lang="en"/>
              <a:t> the pivot more evenly to allow for smoother flipping</a:t>
            </a:r>
            <a:endParaRPr/>
          </a:p>
        </p:txBody>
      </p:sp>
      <p:pic>
        <p:nvPicPr>
          <p:cNvPr id="144" name="Google Shape;144;p24" title="IMG_4078.jpg"/>
          <p:cNvPicPr preferRelativeResize="0"/>
          <p:nvPr/>
        </p:nvPicPr>
        <p:blipFill>
          <a:blip r:embed="rId3">
            <a:alphaModFix/>
          </a:blip>
          <a:stretch>
            <a:fillRect/>
          </a:stretch>
        </p:blipFill>
        <p:spPr>
          <a:xfrm>
            <a:off x="7401918" y="0"/>
            <a:ext cx="1742074" cy="2322749"/>
          </a:xfrm>
          <a:prstGeom prst="rect">
            <a:avLst/>
          </a:prstGeom>
          <a:noFill/>
          <a:ln>
            <a:noFill/>
          </a:ln>
        </p:spPr>
      </p:pic>
      <p:pic>
        <p:nvPicPr>
          <p:cNvPr id="145" name="Google Shape;145;p24"/>
          <p:cNvPicPr preferRelativeResize="0"/>
          <p:nvPr/>
        </p:nvPicPr>
        <p:blipFill>
          <a:blip r:embed="rId4">
            <a:alphaModFix/>
          </a:blip>
          <a:stretch>
            <a:fillRect/>
          </a:stretch>
        </p:blipFill>
        <p:spPr>
          <a:xfrm>
            <a:off x="7180719" y="2525825"/>
            <a:ext cx="1963277" cy="261767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Passion project- issues with from factor	</a:t>
            </a:r>
            <a:endParaRPr/>
          </a:p>
        </p:txBody>
      </p:sp>
      <p:sp>
        <p:nvSpPr>
          <p:cNvPr id="151" name="Google Shape;15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 was </a:t>
            </a:r>
            <a:r>
              <a:rPr lang="en"/>
              <a:t>planning</a:t>
            </a:r>
            <a:r>
              <a:rPr lang="en"/>
              <a:t> on using the full blade as loaded </a:t>
            </a:r>
            <a:r>
              <a:rPr lang="en"/>
              <a:t>tungsten</a:t>
            </a:r>
            <a:r>
              <a:rPr lang="en"/>
              <a:t> epoxy</a:t>
            </a:r>
            <a:endParaRPr/>
          </a:p>
          <a:p>
            <a:pPr indent="-342900" lvl="0" marL="457200" rtl="0" algn="l">
              <a:spcBef>
                <a:spcPts val="0"/>
              </a:spcBef>
              <a:spcAft>
                <a:spcPts val="0"/>
              </a:spcAft>
              <a:buSzPts val="1800"/>
              <a:buChar char="-"/>
            </a:pPr>
            <a:r>
              <a:rPr lang="en"/>
              <a:t>Issue:</a:t>
            </a:r>
            <a:endParaRPr/>
          </a:p>
          <a:p>
            <a:pPr indent="-317500" lvl="1" marL="914400" rtl="0" algn="l">
              <a:spcBef>
                <a:spcPts val="0"/>
              </a:spcBef>
              <a:spcAft>
                <a:spcPts val="0"/>
              </a:spcAft>
              <a:buSzPts val="1400"/>
              <a:buChar char="-"/>
            </a:pPr>
            <a:r>
              <a:rPr lang="en"/>
              <a:t>Anyone who picks up the trainer </a:t>
            </a:r>
            <a:r>
              <a:rPr lang="en"/>
              <a:t>should</a:t>
            </a:r>
            <a:r>
              <a:rPr lang="en"/>
              <a:t> recognize it as a blunt trainer not a </a:t>
            </a:r>
            <a:r>
              <a:rPr lang="en"/>
              <a:t>weapon</a:t>
            </a:r>
            <a:endParaRPr/>
          </a:p>
          <a:p>
            <a:pPr indent="-342900" lvl="0" marL="457200" rtl="0" algn="l">
              <a:spcBef>
                <a:spcPts val="0"/>
              </a:spcBef>
              <a:spcAft>
                <a:spcPts val="0"/>
              </a:spcAft>
              <a:buSzPts val="1800"/>
              <a:buChar char="-"/>
            </a:pPr>
            <a:r>
              <a:rPr lang="en"/>
              <a:t>Solution:</a:t>
            </a:r>
            <a:endParaRPr/>
          </a:p>
          <a:p>
            <a:pPr indent="-317500" lvl="1" marL="914400" rtl="0" algn="l">
              <a:spcBef>
                <a:spcPts val="0"/>
              </a:spcBef>
              <a:spcAft>
                <a:spcPts val="0"/>
              </a:spcAft>
              <a:buSzPts val="1400"/>
              <a:buChar char="-"/>
            </a:pPr>
            <a:r>
              <a:rPr lang="en" sz="1400"/>
              <a:t>Segmented blade using </a:t>
            </a:r>
            <a:r>
              <a:rPr lang="en"/>
              <a:t>PLA</a:t>
            </a:r>
            <a:r>
              <a:rPr lang="en" sz="1400"/>
              <a:t> to break up the outline </a:t>
            </a:r>
            <a:r>
              <a:rPr lang="en"/>
              <a:t>between</a:t>
            </a:r>
            <a:r>
              <a:rPr lang="en" sz="1400"/>
              <a:t> the tang and the body </a:t>
            </a:r>
            <a:endParaRPr sz="1400"/>
          </a:p>
          <a:p>
            <a:pPr indent="-317500" lvl="1" marL="914400" rtl="0" algn="l">
              <a:spcBef>
                <a:spcPts val="0"/>
              </a:spcBef>
              <a:spcAft>
                <a:spcPts val="0"/>
              </a:spcAft>
              <a:buSzPts val="1400"/>
              <a:buChar char="-"/>
            </a:pPr>
            <a:r>
              <a:rPr lang="en" sz="1400"/>
              <a:t>Plastic “Toy” lettering embedded </a:t>
            </a:r>
            <a:r>
              <a:rPr lang="en"/>
              <a:t>in the</a:t>
            </a:r>
            <a:r>
              <a:rPr lang="en" sz="1400"/>
              <a:t> blade and a PLA </a:t>
            </a:r>
            <a:r>
              <a:rPr lang="en"/>
              <a:t>dovetail</a:t>
            </a:r>
            <a:r>
              <a:rPr lang="en" sz="1400"/>
              <a:t> </a:t>
            </a:r>
            <a:r>
              <a:rPr lang="en"/>
              <a:t>connector</a:t>
            </a:r>
            <a:r>
              <a:rPr lang="en" sz="1400"/>
              <a:t> betw</a:t>
            </a:r>
            <a:r>
              <a:rPr lang="en"/>
              <a:t>e</a:t>
            </a:r>
            <a:r>
              <a:rPr lang="en" sz="1400"/>
              <a:t>e</a:t>
            </a:r>
            <a:r>
              <a:rPr lang="en"/>
              <a:t>n</a:t>
            </a:r>
            <a:r>
              <a:rPr lang="en" sz="1400"/>
              <a:t> the </a:t>
            </a:r>
            <a:r>
              <a:rPr lang="en"/>
              <a:t>tungsten and aluminum in order</a:t>
            </a:r>
            <a:r>
              <a:rPr lang="en" sz="1400"/>
              <a:t> to further </a:t>
            </a:r>
            <a:r>
              <a:rPr lang="en"/>
              <a:t>reinforce that it’s a trainer not a weapon</a:t>
            </a:r>
            <a:endParaRPr/>
          </a:p>
          <a:p>
            <a:pPr indent="0" lvl="0" marL="914400" rtl="0" algn="l">
              <a:spcBef>
                <a:spcPts val="1200"/>
              </a:spcBef>
              <a:spcAft>
                <a:spcPts val="0"/>
              </a:spcAft>
              <a:buNone/>
            </a:pPr>
            <a:r>
              <a:t/>
            </a:r>
            <a:endParaRPr/>
          </a:p>
          <a:p>
            <a:pPr indent="0" lvl="0" marL="0" rtl="0" algn="l">
              <a:spcBef>
                <a:spcPts val="1200"/>
              </a:spcBef>
              <a:spcAft>
                <a:spcPts val="1200"/>
              </a:spcAft>
              <a:buNone/>
            </a:pPr>
            <a:r>
              <a:t/>
            </a:r>
            <a:endParaRPr sz="1400"/>
          </a:p>
        </p:txBody>
      </p:sp>
      <p:pic>
        <p:nvPicPr>
          <p:cNvPr id="152" name="Google Shape;152;p25"/>
          <p:cNvPicPr preferRelativeResize="0"/>
          <p:nvPr/>
        </p:nvPicPr>
        <p:blipFill rotWithShape="1">
          <a:blip r:embed="rId3">
            <a:alphaModFix/>
          </a:blip>
          <a:srcRect b="13326" l="3130" r="4525" t="11768"/>
          <a:stretch/>
        </p:blipFill>
        <p:spPr>
          <a:xfrm>
            <a:off x="5004075" y="4055675"/>
            <a:ext cx="4139926" cy="1087825"/>
          </a:xfrm>
          <a:prstGeom prst="rect">
            <a:avLst/>
          </a:prstGeom>
          <a:noFill/>
          <a:ln>
            <a:noFill/>
          </a:ln>
        </p:spPr>
      </p:pic>
      <p:pic>
        <p:nvPicPr>
          <p:cNvPr id="153" name="Google Shape;153;p25"/>
          <p:cNvPicPr preferRelativeResize="0"/>
          <p:nvPr/>
        </p:nvPicPr>
        <p:blipFill rotWithShape="1">
          <a:blip r:embed="rId4">
            <a:alphaModFix/>
          </a:blip>
          <a:srcRect b="32011" l="10135" r="6925" t="50001"/>
          <a:stretch/>
        </p:blipFill>
        <p:spPr>
          <a:xfrm>
            <a:off x="0" y="4055675"/>
            <a:ext cx="3761887" cy="10878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Passion project- pin force stress failure</a:t>
            </a:r>
            <a:endParaRPr/>
          </a:p>
        </p:txBody>
      </p:sp>
      <p:sp>
        <p:nvSpPr>
          <p:cNvPr id="159" name="Google Shape;159;p26"/>
          <p:cNvSpPr txBox="1"/>
          <p:nvPr>
            <p:ph idx="1" type="body"/>
          </p:nvPr>
        </p:nvSpPr>
        <p:spPr>
          <a:xfrm>
            <a:off x="311700" y="1152475"/>
            <a:ext cx="7434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Tungsten epoxy or PLA as the tang caused failure at the pivot holes</a:t>
            </a:r>
            <a:endParaRPr/>
          </a:p>
          <a:p>
            <a:pPr indent="-342900" lvl="0" marL="457200" rtl="0" algn="l">
              <a:spcBef>
                <a:spcPts val="0"/>
              </a:spcBef>
              <a:spcAft>
                <a:spcPts val="0"/>
              </a:spcAft>
              <a:buSzPts val="1800"/>
              <a:buChar char="-"/>
            </a:pPr>
            <a:r>
              <a:rPr lang="en"/>
              <a:t>Issue:</a:t>
            </a:r>
            <a:endParaRPr/>
          </a:p>
          <a:p>
            <a:pPr indent="-317500" lvl="1" marL="914400" rtl="0" algn="l">
              <a:spcBef>
                <a:spcPts val="0"/>
              </a:spcBef>
              <a:spcAft>
                <a:spcPts val="0"/>
              </a:spcAft>
              <a:buSzPts val="1400"/>
              <a:buChar char="-"/>
            </a:pPr>
            <a:r>
              <a:rPr lang="en"/>
              <a:t>The pinholes were too small causing the forces of the rotation to break the rivets out</a:t>
            </a:r>
            <a:endParaRPr/>
          </a:p>
          <a:p>
            <a:pPr indent="-342900" lvl="0" marL="457200" rtl="0" algn="l">
              <a:spcBef>
                <a:spcPts val="0"/>
              </a:spcBef>
              <a:spcAft>
                <a:spcPts val="0"/>
              </a:spcAft>
              <a:buSzPts val="1800"/>
              <a:buChar char="-"/>
            </a:pPr>
            <a:r>
              <a:rPr lang="en"/>
              <a:t>Solution:</a:t>
            </a:r>
            <a:endParaRPr/>
          </a:p>
          <a:p>
            <a:pPr indent="-317500" lvl="1" marL="914400" rtl="0" algn="l">
              <a:spcBef>
                <a:spcPts val="0"/>
              </a:spcBef>
              <a:spcAft>
                <a:spcPts val="0"/>
              </a:spcAft>
              <a:buSzPts val="1400"/>
              <a:buChar char="-"/>
            </a:pPr>
            <a:r>
              <a:rPr lang="en"/>
              <a:t>Upgrade the pivot hardware from 1.5mm OD brass rivets to 4mm Chicago screws</a:t>
            </a:r>
            <a:endParaRPr/>
          </a:p>
          <a:p>
            <a:pPr indent="-317500" lvl="1" marL="914400" rtl="0" algn="l">
              <a:spcBef>
                <a:spcPts val="0"/>
              </a:spcBef>
              <a:spcAft>
                <a:spcPts val="0"/>
              </a:spcAft>
              <a:buSzPts val="1400"/>
              <a:buChar char="-"/>
            </a:pPr>
            <a:r>
              <a:rPr lang="en"/>
              <a:t>Get the tang CNC’d in aluminum</a:t>
            </a:r>
            <a:endParaRPr/>
          </a:p>
          <a:p>
            <a:pPr indent="0" lvl="0" marL="457200" rtl="0" algn="l">
              <a:spcBef>
                <a:spcPts val="1200"/>
              </a:spcBef>
              <a:spcAft>
                <a:spcPts val="1200"/>
              </a:spcAft>
              <a:buNone/>
            </a:pPr>
            <a:r>
              <a:t/>
            </a:r>
            <a:endParaRPr/>
          </a:p>
        </p:txBody>
      </p:sp>
      <p:pic>
        <p:nvPicPr>
          <p:cNvPr id="160" name="Google Shape;160;p26"/>
          <p:cNvPicPr preferRelativeResize="0"/>
          <p:nvPr/>
        </p:nvPicPr>
        <p:blipFill rotWithShape="1">
          <a:blip r:embed="rId3">
            <a:alphaModFix/>
          </a:blip>
          <a:srcRect b="0" l="27216" r="37826" t="48781"/>
          <a:stretch/>
        </p:blipFill>
        <p:spPr>
          <a:xfrm>
            <a:off x="7795398" y="0"/>
            <a:ext cx="1348600" cy="2634476"/>
          </a:xfrm>
          <a:prstGeom prst="rect">
            <a:avLst/>
          </a:prstGeom>
          <a:noFill/>
          <a:ln>
            <a:noFill/>
          </a:ln>
        </p:spPr>
      </p:pic>
      <p:pic>
        <p:nvPicPr>
          <p:cNvPr id="161" name="Google Shape;161;p26" title="IMG_2937.jpg"/>
          <p:cNvPicPr preferRelativeResize="0"/>
          <p:nvPr/>
        </p:nvPicPr>
        <p:blipFill rotWithShape="1">
          <a:blip r:embed="rId4">
            <a:alphaModFix/>
          </a:blip>
          <a:srcRect b="22426" l="52856" r="17194" t="13096"/>
          <a:stretch/>
        </p:blipFill>
        <p:spPr>
          <a:xfrm flipH="1" rot="10800000">
            <a:off x="8286351" y="2634477"/>
            <a:ext cx="857649" cy="246197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Passion project- body force stress failure</a:t>
            </a:r>
            <a:endParaRPr/>
          </a:p>
        </p:txBody>
      </p:sp>
      <p:sp>
        <p:nvSpPr>
          <p:cNvPr id="167" name="Google Shape;167;p27"/>
          <p:cNvSpPr txBox="1"/>
          <p:nvPr>
            <p:ph idx="1" type="body"/>
          </p:nvPr>
        </p:nvSpPr>
        <p:spPr>
          <a:xfrm>
            <a:off x="311700" y="1152475"/>
            <a:ext cx="7434900" cy="31797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Tungsten epoxy is brittle </a:t>
            </a:r>
            <a:endParaRPr/>
          </a:p>
          <a:p>
            <a:pPr indent="-334328" lvl="0" marL="457200" rtl="0" algn="l">
              <a:spcBef>
                <a:spcPts val="0"/>
              </a:spcBef>
              <a:spcAft>
                <a:spcPts val="0"/>
              </a:spcAft>
              <a:buSzPct val="100000"/>
              <a:buChar char="-"/>
            </a:pPr>
            <a:r>
              <a:rPr lang="en"/>
              <a:t>Press Fitting</a:t>
            </a:r>
            <a:r>
              <a:rPr lang="en"/>
              <a:t> the “Toy” lettering caused internal stress </a:t>
            </a:r>
            <a:r>
              <a:rPr lang="en"/>
              <a:t>in the</a:t>
            </a:r>
            <a:r>
              <a:rPr lang="en"/>
              <a:t> epoxy</a:t>
            </a:r>
            <a:endParaRPr/>
          </a:p>
          <a:p>
            <a:pPr indent="-334328" lvl="0" marL="457200" rtl="0" algn="l">
              <a:spcBef>
                <a:spcPts val="0"/>
              </a:spcBef>
              <a:spcAft>
                <a:spcPts val="0"/>
              </a:spcAft>
              <a:buSzPct val="100000"/>
              <a:buChar char="-"/>
            </a:pPr>
            <a:r>
              <a:rPr lang="en"/>
              <a:t>Issue:</a:t>
            </a:r>
            <a:endParaRPr/>
          </a:p>
          <a:p>
            <a:pPr indent="-310832" lvl="1" marL="914400" rtl="0" algn="l">
              <a:spcBef>
                <a:spcPts val="0"/>
              </a:spcBef>
              <a:spcAft>
                <a:spcPts val="0"/>
              </a:spcAft>
              <a:buSzPct val="100000"/>
              <a:buChar char="-"/>
            </a:pPr>
            <a:r>
              <a:rPr lang="en"/>
              <a:t>Introducing this dovetail connector and “Toy” PLA pressfit lettering introduces weakness in the blade causing repeated failure in the blade</a:t>
            </a:r>
            <a:endParaRPr/>
          </a:p>
          <a:p>
            <a:pPr indent="-334328" lvl="0" marL="457200" rtl="0" algn="l">
              <a:spcBef>
                <a:spcPts val="0"/>
              </a:spcBef>
              <a:spcAft>
                <a:spcPts val="0"/>
              </a:spcAft>
              <a:buSzPct val="100000"/>
              <a:buChar char="-"/>
            </a:pPr>
            <a:r>
              <a:rPr lang="en"/>
              <a:t>Solution:</a:t>
            </a:r>
            <a:endParaRPr/>
          </a:p>
          <a:p>
            <a:pPr indent="-310832" lvl="1" marL="914400" rtl="0" algn="l">
              <a:spcBef>
                <a:spcPts val="0"/>
              </a:spcBef>
              <a:spcAft>
                <a:spcPts val="0"/>
              </a:spcAft>
              <a:buSzPct val="100000"/>
              <a:buChar char="-"/>
            </a:pPr>
            <a:r>
              <a:rPr lang="en"/>
              <a:t>Anneal the blade at 60 C after press fit to reduce internal stress caused by press fit</a:t>
            </a:r>
            <a:endParaRPr/>
          </a:p>
          <a:p>
            <a:pPr indent="-310832" lvl="1" marL="914400" rtl="0" algn="l">
              <a:spcBef>
                <a:spcPts val="0"/>
              </a:spcBef>
              <a:spcAft>
                <a:spcPts val="0"/>
              </a:spcAft>
              <a:buSzPct val="100000"/>
              <a:buChar char="-"/>
            </a:pPr>
            <a:r>
              <a:rPr lang="en"/>
              <a:t>Coat the assembled blade portion in a thin coating of performance epoxy</a:t>
            </a:r>
            <a:endParaRPr/>
          </a:p>
          <a:p>
            <a:pPr indent="-310832" lvl="1" marL="914400" rtl="0" algn="l">
              <a:spcBef>
                <a:spcPts val="0"/>
              </a:spcBef>
              <a:spcAft>
                <a:spcPts val="0"/>
              </a:spcAft>
              <a:buSzPct val="100000"/>
              <a:buChar char="-"/>
            </a:pPr>
            <a:r>
              <a:rPr lang="en"/>
              <a:t>Moved the “Toy” lettering up the blade and shrunk the letters so there's more base material </a:t>
            </a:r>
            <a:endParaRPr/>
          </a:p>
          <a:p>
            <a:pPr indent="-310832" lvl="1" marL="914400" rtl="0" algn="l">
              <a:spcBef>
                <a:spcPts val="0"/>
              </a:spcBef>
              <a:spcAft>
                <a:spcPts val="0"/>
              </a:spcAft>
              <a:buSzPct val="100000"/>
              <a:buChar char="-"/>
            </a:pPr>
            <a:r>
              <a:rPr lang="en"/>
              <a:t>Future design changes: </a:t>
            </a:r>
            <a:endParaRPr/>
          </a:p>
          <a:p>
            <a:pPr indent="-310832" lvl="2" marL="1371600" rtl="0" algn="l">
              <a:spcBef>
                <a:spcPts val="0"/>
              </a:spcBef>
              <a:spcAft>
                <a:spcPts val="0"/>
              </a:spcAft>
              <a:buSzPct val="100000"/>
              <a:buChar char="-"/>
            </a:pPr>
            <a:r>
              <a:rPr lang="en"/>
              <a:t>Add a plastic squid pen type portion inside the blade or a steel wire for increased impact resistance</a:t>
            </a:r>
            <a:endParaRPr/>
          </a:p>
          <a:p>
            <a:pPr indent="-310832" lvl="2" marL="1371600" rtl="0" algn="l">
              <a:spcBef>
                <a:spcPts val="0"/>
              </a:spcBef>
              <a:spcAft>
                <a:spcPts val="0"/>
              </a:spcAft>
              <a:buSzPct val="100000"/>
              <a:buChar char="-"/>
            </a:pPr>
            <a:r>
              <a:rPr lang="en"/>
              <a:t>Embed the toy lettering in the blade during casting instead of press fit after</a:t>
            </a:r>
            <a:endParaRPr/>
          </a:p>
        </p:txBody>
      </p:sp>
      <p:pic>
        <p:nvPicPr>
          <p:cNvPr id="168" name="Google Shape;168;p27"/>
          <p:cNvPicPr preferRelativeResize="0"/>
          <p:nvPr/>
        </p:nvPicPr>
        <p:blipFill>
          <a:blip r:embed="rId3">
            <a:alphaModFix/>
          </a:blip>
          <a:stretch>
            <a:fillRect/>
          </a:stretch>
        </p:blipFill>
        <p:spPr>
          <a:xfrm>
            <a:off x="3" y="4258972"/>
            <a:ext cx="2736399" cy="884525"/>
          </a:xfrm>
          <a:prstGeom prst="rect">
            <a:avLst/>
          </a:prstGeom>
          <a:noFill/>
          <a:ln>
            <a:noFill/>
          </a:ln>
        </p:spPr>
      </p:pic>
      <p:pic>
        <p:nvPicPr>
          <p:cNvPr id="169" name="Google Shape;169;p27" title="IMG_2938.jpg"/>
          <p:cNvPicPr preferRelativeResize="0"/>
          <p:nvPr/>
        </p:nvPicPr>
        <p:blipFill rotWithShape="1">
          <a:blip r:embed="rId4">
            <a:alphaModFix/>
          </a:blip>
          <a:srcRect b="16648" l="26691" r="39958" t="20930"/>
          <a:stretch/>
        </p:blipFill>
        <p:spPr>
          <a:xfrm rot="-5400000">
            <a:off x="3951972" y="3556198"/>
            <a:ext cx="917649" cy="2290125"/>
          </a:xfrm>
          <a:prstGeom prst="rect">
            <a:avLst/>
          </a:prstGeom>
          <a:noFill/>
          <a:ln>
            <a:noFill/>
          </a:ln>
        </p:spPr>
      </p:pic>
      <p:pic>
        <p:nvPicPr>
          <p:cNvPr id="170" name="Google Shape;170;p27"/>
          <p:cNvPicPr preferRelativeResize="0"/>
          <p:nvPr/>
        </p:nvPicPr>
        <p:blipFill>
          <a:blip r:embed="rId5">
            <a:alphaModFix/>
          </a:blip>
          <a:stretch>
            <a:fillRect/>
          </a:stretch>
        </p:blipFill>
        <p:spPr>
          <a:xfrm>
            <a:off x="7785825" y="0"/>
            <a:ext cx="1358175" cy="2412125"/>
          </a:xfrm>
          <a:prstGeom prst="rect">
            <a:avLst/>
          </a:prstGeom>
          <a:noFill/>
          <a:ln>
            <a:noFill/>
          </a:ln>
        </p:spPr>
      </p:pic>
      <p:pic>
        <p:nvPicPr>
          <p:cNvPr id="171" name="Google Shape;171;p27"/>
          <p:cNvPicPr preferRelativeResize="0"/>
          <p:nvPr/>
        </p:nvPicPr>
        <p:blipFill rotWithShape="1">
          <a:blip r:embed="rId6">
            <a:alphaModFix/>
          </a:blip>
          <a:srcRect b="32011" l="10135" r="6925" t="50001"/>
          <a:stretch/>
        </p:blipFill>
        <p:spPr>
          <a:xfrm>
            <a:off x="6085175" y="4258988"/>
            <a:ext cx="3058829" cy="8845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PCB design </a:t>
            </a:r>
            <a:r>
              <a:rPr lang="en"/>
              <a:t>iteration</a:t>
            </a:r>
            <a:endParaRPr/>
          </a:p>
        </p:txBody>
      </p:sp>
      <p:sp>
        <p:nvSpPr>
          <p:cNvPr id="177" name="Google Shape;177;p28"/>
          <p:cNvSpPr txBox="1"/>
          <p:nvPr>
            <p:ph idx="1" type="body"/>
          </p:nvPr>
        </p:nvSpPr>
        <p:spPr>
          <a:xfrm>
            <a:off x="311700" y="1152475"/>
            <a:ext cx="69252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I have had fairly limited exposure to circuits: some high school engineering class, plus physics in college, but never designed anything beyond what was needed to pass </a:t>
            </a:r>
            <a:endParaRPr/>
          </a:p>
          <a:p>
            <a:pPr indent="-325755" lvl="0" marL="457200" rtl="0" algn="l">
              <a:spcBef>
                <a:spcPts val="0"/>
              </a:spcBef>
              <a:spcAft>
                <a:spcPts val="0"/>
              </a:spcAft>
              <a:buSzPct val="100000"/>
              <a:buChar char="-"/>
            </a:pPr>
            <a:r>
              <a:rPr lang="en"/>
              <a:t>I </a:t>
            </a:r>
            <a:r>
              <a:rPr lang="en"/>
              <a:t>researched</a:t>
            </a:r>
            <a:r>
              <a:rPr lang="en"/>
              <a:t> the </a:t>
            </a:r>
            <a:r>
              <a:rPr lang="en"/>
              <a:t>components</a:t>
            </a:r>
            <a:r>
              <a:rPr lang="en"/>
              <a:t> I needed to build a </a:t>
            </a:r>
            <a:r>
              <a:rPr lang="en"/>
              <a:t>functional</a:t>
            </a:r>
            <a:r>
              <a:rPr lang="en"/>
              <a:t> POV </a:t>
            </a:r>
            <a:r>
              <a:rPr lang="en"/>
              <a:t>circuit</a:t>
            </a:r>
            <a:endParaRPr/>
          </a:p>
          <a:p>
            <a:pPr indent="-325755" lvl="0" marL="457200" rtl="0" algn="l">
              <a:spcBef>
                <a:spcPts val="0"/>
              </a:spcBef>
              <a:spcAft>
                <a:spcPts val="0"/>
              </a:spcAft>
              <a:buSzPct val="100000"/>
              <a:buChar char="-"/>
            </a:pPr>
            <a:r>
              <a:rPr lang="en"/>
              <a:t>Landed on the </a:t>
            </a:r>
            <a:r>
              <a:rPr lang="en"/>
              <a:t>SK6812MINI-HS (3.7v) to avoid using a boost converter and 5v LEDs, which boosted run time by an </a:t>
            </a:r>
            <a:r>
              <a:rPr lang="en"/>
              <a:t>estimated 1/3</a:t>
            </a:r>
            <a:endParaRPr/>
          </a:p>
          <a:p>
            <a:pPr indent="-325755" lvl="0" marL="457200" rtl="0" algn="l">
              <a:spcBef>
                <a:spcPts val="0"/>
              </a:spcBef>
              <a:spcAft>
                <a:spcPts val="0"/>
              </a:spcAft>
              <a:buSzPct val="100000"/>
              <a:buChar char="-"/>
            </a:pPr>
            <a:r>
              <a:rPr lang="en"/>
              <a:t>One major issue I am currently changing is </a:t>
            </a:r>
            <a:r>
              <a:rPr lang="en"/>
              <a:t>during</a:t>
            </a:r>
            <a:r>
              <a:rPr lang="en"/>
              <a:t> </a:t>
            </a:r>
            <a:r>
              <a:rPr lang="en"/>
              <a:t>assembly</a:t>
            </a:r>
            <a:r>
              <a:rPr lang="en"/>
              <a:t> </a:t>
            </a:r>
            <a:r>
              <a:rPr lang="en"/>
              <a:t>there</a:t>
            </a:r>
            <a:r>
              <a:rPr lang="en"/>
              <a:t> was a short between the 3.3v line and the ground line </a:t>
            </a:r>
            <a:r>
              <a:rPr lang="en"/>
              <a:t>because</a:t>
            </a:r>
            <a:r>
              <a:rPr lang="en"/>
              <a:t> the pins were right next to </a:t>
            </a:r>
            <a:r>
              <a:rPr lang="en"/>
              <a:t>each other</a:t>
            </a:r>
            <a:r>
              <a:rPr lang="en"/>
              <a:t>, next </a:t>
            </a:r>
            <a:r>
              <a:rPr lang="en"/>
              <a:t>iteration</a:t>
            </a:r>
            <a:r>
              <a:rPr lang="en"/>
              <a:t> will move the pin further away to </a:t>
            </a:r>
            <a:r>
              <a:rPr lang="en"/>
              <a:t>make</a:t>
            </a:r>
            <a:r>
              <a:rPr lang="en"/>
              <a:t> </a:t>
            </a:r>
            <a:r>
              <a:rPr lang="en"/>
              <a:t>assembly</a:t>
            </a:r>
            <a:r>
              <a:rPr lang="en"/>
              <a:t> more </a:t>
            </a:r>
            <a:r>
              <a:rPr lang="en"/>
              <a:t>consistent or use 2 jst connectors.</a:t>
            </a:r>
            <a:endParaRPr/>
          </a:p>
          <a:p>
            <a:pPr indent="-325755" lvl="0" marL="457200" rtl="0" algn="l">
              <a:spcBef>
                <a:spcPts val="0"/>
              </a:spcBef>
              <a:spcAft>
                <a:spcPts val="0"/>
              </a:spcAft>
              <a:buSzPct val="100000"/>
              <a:buChar char="-"/>
            </a:pPr>
            <a:r>
              <a:rPr lang="en"/>
              <a:t>Another change was swapping the JST connector with a 7 pinhole connector to reduce height to better fit in the body, couldn't use a 7 pin 1mm pitch JST because the current would exceed the rating in the power and ground line. Low and high current JST split planned.</a:t>
            </a:r>
            <a:endParaRPr/>
          </a:p>
        </p:txBody>
      </p:sp>
      <p:pic>
        <p:nvPicPr>
          <p:cNvPr id="178" name="Google Shape;178;p28"/>
          <p:cNvPicPr preferRelativeResize="0"/>
          <p:nvPr/>
        </p:nvPicPr>
        <p:blipFill>
          <a:blip r:embed="rId3">
            <a:alphaModFix/>
          </a:blip>
          <a:stretch>
            <a:fillRect/>
          </a:stretch>
        </p:blipFill>
        <p:spPr>
          <a:xfrm>
            <a:off x="7316219" y="0"/>
            <a:ext cx="1827775" cy="2437023"/>
          </a:xfrm>
          <a:prstGeom prst="rect">
            <a:avLst/>
          </a:prstGeom>
          <a:noFill/>
          <a:ln>
            <a:noFill/>
          </a:ln>
        </p:spPr>
      </p:pic>
      <p:pic>
        <p:nvPicPr>
          <p:cNvPr id="179" name="Google Shape;179;p28" title="IMG_4081.jpg"/>
          <p:cNvPicPr preferRelativeResize="0"/>
          <p:nvPr/>
        </p:nvPicPr>
        <p:blipFill>
          <a:blip r:embed="rId4">
            <a:alphaModFix/>
          </a:blip>
          <a:stretch>
            <a:fillRect/>
          </a:stretch>
        </p:blipFill>
        <p:spPr>
          <a:xfrm>
            <a:off x="7281425" y="2706476"/>
            <a:ext cx="1827775" cy="24370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Passion Project- </a:t>
            </a:r>
            <a:r>
              <a:rPr lang="en"/>
              <a:t>software</a:t>
            </a:r>
            <a:r>
              <a:rPr lang="en"/>
              <a:t>	</a:t>
            </a:r>
            <a:endParaRPr/>
          </a:p>
        </p:txBody>
      </p:sp>
      <p:sp>
        <p:nvSpPr>
          <p:cNvPr id="185" name="Google Shape;185;p29"/>
          <p:cNvSpPr txBox="1"/>
          <p:nvPr>
            <p:ph idx="1" type="body"/>
          </p:nvPr>
        </p:nvSpPr>
        <p:spPr>
          <a:xfrm>
            <a:off x="311700" y="1152475"/>
            <a:ext cx="77895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en"/>
              <a:t>You upload an </a:t>
            </a:r>
            <a:r>
              <a:rPr lang="en"/>
              <a:t>image</a:t>
            </a:r>
            <a:r>
              <a:rPr lang="en"/>
              <a:t> to a </a:t>
            </a:r>
            <a:r>
              <a:rPr lang="en"/>
              <a:t>software</a:t>
            </a:r>
            <a:r>
              <a:rPr lang="en"/>
              <a:t> and it splits the </a:t>
            </a:r>
            <a:r>
              <a:rPr lang="en"/>
              <a:t>image</a:t>
            </a:r>
            <a:r>
              <a:rPr lang="en"/>
              <a:t> into 17 </a:t>
            </a:r>
            <a:r>
              <a:rPr lang="en"/>
              <a:t>concentric</a:t>
            </a:r>
            <a:r>
              <a:rPr lang="en"/>
              <a:t> rings and splits them into 256 slices at about 1.4 </a:t>
            </a:r>
            <a:r>
              <a:rPr lang="en"/>
              <a:t>degrees</a:t>
            </a:r>
            <a:r>
              <a:rPr lang="en"/>
              <a:t> per slice</a:t>
            </a:r>
            <a:endParaRPr/>
          </a:p>
          <a:p>
            <a:pPr indent="-334328" lvl="0" marL="457200" rtl="0" algn="l">
              <a:spcBef>
                <a:spcPts val="0"/>
              </a:spcBef>
              <a:spcAft>
                <a:spcPts val="0"/>
              </a:spcAft>
              <a:buSzPct val="100000"/>
              <a:buChar char="-"/>
            </a:pPr>
            <a:r>
              <a:rPr lang="en"/>
              <a:t>The code detects movement in the blade via the IMU</a:t>
            </a:r>
            <a:endParaRPr/>
          </a:p>
          <a:p>
            <a:pPr indent="-334328" lvl="0" marL="457200" rtl="0" algn="l">
              <a:spcBef>
                <a:spcPts val="0"/>
              </a:spcBef>
              <a:spcAft>
                <a:spcPts val="0"/>
              </a:spcAft>
              <a:buSzPct val="100000"/>
              <a:buChar char="-"/>
            </a:pPr>
            <a:r>
              <a:rPr lang="en"/>
              <a:t>The ESP32 reads the IMU data and </a:t>
            </a:r>
            <a:r>
              <a:rPr lang="en"/>
              <a:t>calculates</a:t>
            </a:r>
            <a:r>
              <a:rPr lang="en"/>
              <a:t> where the center line is for the handle it </a:t>
            </a:r>
            <a:r>
              <a:rPr lang="en"/>
              <a:t>controls</a:t>
            </a:r>
            <a:r>
              <a:rPr lang="en"/>
              <a:t> inside the </a:t>
            </a:r>
            <a:r>
              <a:rPr lang="en"/>
              <a:t>polar</a:t>
            </a:r>
            <a:r>
              <a:rPr lang="en"/>
              <a:t> </a:t>
            </a:r>
            <a:r>
              <a:rPr lang="en"/>
              <a:t>array</a:t>
            </a:r>
            <a:r>
              <a:rPr lang="en"/>
              <a:t> that </a:t>
            </a:r>
            <a:r>
              <a:rPr lang="en"/>
              <a:t>stores</a:t>
            </a:r>
            <a:r>
              <a:rPr lang="en"/>
              <a:t> the image.</a:t>
            </a:r>
            <a:endParaRPr/>
          </a:p>
          <a:p>
            <a:pPr indent="-334328" lvl="0" marL="457200" rtl="0" algn="l">
              <a:spcBef>
                <a:spcPts val="0"/>
              </a:spcBef>
              <a:spcAft>
                <a:spcPts val="0"/>
              </a:spcAft>
              <a:buSzPct val="100000"/>
              <a:buChar char="-"/>
            </a:pPr>
            <a:r>
              <a:rPr lang="en"/>
              <a:t>It then uses the individual LEDs offset </a:t>
            </a:r>
            <a:r>
              <a:rPr lang="en"/>
              <a:t>from</a:t>
            </a:r>
            <a:r>
              <a:rPr lang="en"/>
              <a:t> centerline and trig to calculate what each led color </a:t>
            </a:r>
            <a:r>
              <a:rPr lang="en"/>
              <a:t>should</a:t>
            </a:r>
            <a:r>
              <a:rPr lang="en"/>
              <a:t> be as it sweeps through the </a:t>
            </a:r>
            <a:r>
              <a:rPr lang="en"/>
              <a:t>polar</a:t>
            </a:r>
            <a:r>
              <a:rPr lang="en"/>
              <a:t> array that stores the </a:t>
            </a:r>
            <a:r>
              <a:rPr lang="en"/>
              <a:t>image</a:t>
            </a:r>
            <a:endParaRPr/>
          </a:p>
          <a:p>
            <a:pPr indent="-334328" lvl="0" marL="457200" rtl="0" algn="l">
              <a:spcBef>
                <a:spcPts val="0"/>
              </a:spcBef>
              <a:spcAft>
                <a:spcPts val="0"/>
              </a:spcAft>
              <a:buSzPct val="100000"/>
              <a:buChar char="-"/>
            </a:pPr>
            <a:r>
              <a:rPr lang="en"/>
              <a:t>LEDs are not in a straight line so each led has its own offset value</a:t>
            </a:r>
            <a:endParaRPr/>
          </a:p>
          <a:p>
            <a:pPr indent="-334328" lvl="0" marL="457200" rtl="0" algn="l">
              <a:spcBef>
                <a:spcPts val="0"/>
              </a:spcBef>
              <a:spcAft>
                <a:spcPts val="0"/>
              </a:spcAft>
              <a:buSzPct val="100000"/>
              <a:buChar char="-"/>
            </a:pPr>
            <a:r>
              <a:rPr lang="en"/>
              <a:t>Future </a:t>
            </a:r>
            <a:r>
              <a:rPr lang="en"/>
              <a:t>iterations</a:t>
            </a:r>
            <a:r>
              <a:rPr lang="en"/>
              <a:t> include some app interface that allows you to upload any </a:t>
            </a:r>
            <a:r>
              <a:rPr lang="en"/>
              <a:t>image</a:t>
            </a:r>
            <a:r>
              <a:rPr lang="en"/>
              <a:t> and it </a:t>
            </a:r>
            <a:r>
              <a:rPr lang="en"/>
              <a:t>should</a:t>
            </a:r>
            <a:r>
              <a:rPr lang="en"/>
              <a:t> be able to map to the LEDs and </a:t>
            </a:r>
            <a:r>
              <a:rPr lang="en"/>
              <a:t>display</a:t>
            </a:r>
            <a:r>
              <a:rPr lang="en"/>
              <a:t> the </a:t>
            </a:r>
            <a:r>
              <a:rPr lang="en"/>
              <a:t>image</a:t>
            </a:r>
            <a:r>
              <a:rPr lang="en"/>
              <a:t> when </a:t>
            </a:r>
            <a:r>
              <a:rPr lang="en"/>
              <a:t>spinning without having to reformat the ESP32</a:t>
            </a:r>
            <a:endParaRPr/>
          </a:p>
        </p:txBody>
      </p:sp>
      <p:pic>
        <p:nvPicPr>
          <p:cNvPr id="186" name="Google Shape;186;p29" title="IMG_4080.jpg"/>
          <p:cNvPicPr preferRelativeResize="0"/>
          <p:nvPr/>
        </p:nvPicPr>
        <p:blipFill rotWithShape="1">
          <a:blip r:embed="rId3">
            <a:alphaModFix/>
          </a:blip>
          <a:srcRect b="10367" l="25002" r="47966" t="17990"/>
          <a:stretch/>
        </p:blipFill>
        <p:spPr>
          <a:xfrm>
            <a:off x="8101200" y="883750"/>
            <a:ext cx="1042802" cy="3685125"/>
          </a:xfrm>
          <a:prstGeom prst="rect">
            <a:avLst/>
          </a:prstGeom>
          <a:noFill/>
          <a:ln>
            <a:noFill/>
          </a:ln>
        </p:spPr>
      </p:pic>
      <p:pic>
        <p:nvPicPr>
          <p:cNvPr id="187" name="Google Shape;187;p29"/>
          <p:cNvPicPr preferRelativeResize="0"/>
          <p:nvPr/>
        </p:nvPicPr>
        <p:blipFill>
          <a:blip r:embed="rId4">
            <a:alphaModFix/>
          </a:blip>
          <a:stretch>
            <a:fillRect/>
          </a:stretch>
        </p:blipFill>
        <p:spPr>
          <a:xfrm>
            <a:off x="6641075" y="73488"/>
            <a:ext cx="1315775" cy="1315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Passion Project- testing and assembly</a:t>
            </a:r>
            <a:endParaRPr/>
          </a:p>
        </p:txBody>
      </p:sp>
      <p:sp>
        <p:nvSpPr>
          <p:cNvPr id="193" name="Google Shape;193;p30"/>
          <p:cNvSpPr txBox="1"/>
          <p:nvPr>
            <p:ph idx="1" type="body"/>
          </p:nvPr>
        </p:nvSpPr>
        <p:spPr>
          <a:xfrm>
            <a:off x="311700" y="1152475"/>
            <a:ext cx="65745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Made an </a:t>
            </a:r>
            <a:r>
              <a:rPr lang="en"/>
              <a:t>assembly</a:t>
            </a:r>
            <a:r>
              <a:rPr lang="en"/>
              <a:t> doc to make </a:t>
            </a:r>
            <a:r>
              <a:rPr lang="en"/>
              <a:t>assembly</a:t>
            </a:r>
            <a:r>
              <a:rPr lang="en"/>
              <a:t> more </a:t>
            </a:r>
            <a:r>
              <a:rPr lang="en"/>
              <a:t>consistent</a:t>
            </a:r>
            <a:endParaRPr/>
          </a:p>
          <a:p>
            <a:pPr indent="-342900" lvl="0" marL="457200" rtl="0" algn="l">
              <a:spcBef>
                <a:spcPts val="0"/>
              </a:spcBef>
              <a:spcAft>
                <a:spcPts val="0"/>
              </a:spcAft>
              <a:buSzPts val="1800"/>
              <a:buChar char="-"/>
            </a:pPr>
            <a:r>
              <a:rPr lang="en"/>
              <a:t>Continuity</a:t>
            </a:r>
            <a:r>
              <a:rPr lang="en"/>
              <a:t> test the bridge after solder</a:t>
            </a:r>
            <a:endParaRPr/>
          </a:p>
          <a:p>
            <a:pPr indent="-342900" lvl="0" marL="457200" rtl="0" algn="l">
              <a:spcBef>
                <a:spcPts val="0"/>
              </a:spcBef>
              <a:spcAft>
                <a:spcPts val="0"/>
              </a:spcAft>
              <a:buSzPts val="1800"/>
              <a:buChar char="-"/>
            </a:pPr>
            <a:r>
              <a:rPr lang="en"/>
              <a:t>Once </a:t>
            </a:r>
            <a:r>
              <a:rPr lang="en"/>
              <a:t>soldered,</a:t>
            </a:r>
            <a:r>
              <a:rPr lang="en"/>
              <a:t> test using </a:t>
            </a:r>
            <a:r>
              <a:rPr lang="en"/>
              <a:t>software outside the housing</a:t>
            </a:r>
            <a:endParaRPr/>
          </a:p>
          <a:p>
            <a:pPr indent="-342900" lvl="0" marL="457200" rtl="0" algn="l">
              <a:spcBef>
                <a:spcPts val="0"/>
              </a:spcBef>
              <a:spcAft>
                <a:spcPts val="0"/>
              </a:spcAft>
              <a:buSzPts val="1800"/>
              <a:buChar char="-"/>
            </a:pPr>
            <a:r>
              <a:rPr lang="en"/>
              <a:t>Verify the IMU is outputting values</a:t>
            </a:r>
            <a:endParaRPr/>
          </a:p>
          <a:p>
            <a:pPr indent="-342900" lvl="0" marL="457200" rtl="0" algn="l">
              <a:spcBef>
                <a:spcPts val="0"/>
              </a:spcBef>
              <a:spcAft>
                <a:spcPts val="0"/>
              </a:spcAft>
              <a:buSzPts val="1800"/>
              <a:buChar char="-"/>
            </a:pPr>
            <a:r>
              <a:rPr lang="en"/>
              <a:t>Verify the LED chain is unbroken</a:t>
            </a:r>
            <a:endParaRPr/>
          </a:p>
          <a:p>
            <a:pPr indent="-342900" lvl="0" marL="457200" rtl="0" algn="l">
              <a:spcBef>
                <a:spcPts val="0"/>
              </a:spcBef>
              <a:spcAft>
                <a:spcPts val="0"/>
              </a:spcAft>
              <a:buSzPts val="1800"/>
              <a:buChar char="-"/>
            </a:pPr>
            <a:r>
              <a:rPr lang="en"/>
              <a:t>If both tests pass seal up the shell and test again before heat welding the shell</a:t>
            </a:r>
            <a:endParaRPr/>
          </a:p>
          <a:p>
            <a:pPr indent="0" lvl="0" marL="457200" rtl="0" algn="l">
              <a:spcBef>
                <a:spcPts val="1200"/>
              </a:spcBef>
              <a:spcAft>
                <a:spcPts val="1200"/>
              </a:spcAft>
              <a:buNone/>
            </a:pPr>
            <a:r>
              <a:t/>
            </a:r>
            <a:endParaRPr/>
          </a:p>
        </p:txBody>
      </p:sp>
      <p:pic>
        <p:nvPicPr>
          <p:cNvPr id="194" name="Google Shape;194;p30" title="gyrodata test.png"/>
          <p:cNvPicPr preferRelativeResize="0"/>
          <p:nvPr/>
        </p:nvPicPr>
        <p:blipFill rotWithShape="1">
          <a:blip r:embed="rId3">
            <a:alphaModFix/>
          </a:blip>
          <a:srcRect b="41215" l="1488" r="0" t="0"/>
          <a:stretch/>
        </p:blipFill>
        <p:spPr>
          <a:xfrm>
            <a:off x="7049350" y="0"/>
            <a:ext cx="2094651" cy="2087376"/>
          </a:xfrm>
          <a:prstGeom prst="rect">
            <a:avLst/>
          </a:prstGeom>
          <a:noFill/>
          <a:ln>
            <a:noFill/>
          </a:ln>
        </p:spPr>
      </p:pic>
      <p:pic>
        <p:nvPicPr>
          <p:cNvPr id="195" name="Google Shape;195;p30"/>
          <p:cNvPicPr preferRelativeResize="0"/>
          <p:nvPr/>
        </p:nvPicPr>
        <p:blipFill>
          <a:blip r:embed="rId4">
            <a:alphaModFix/>
          </a:blip>
          <a:stretch>
            <a:fillRect/>
          </a:stretch>
        </p:blipFill>
        <p:spPr>
          <a:xfrm>
            <a:off x="7049345" y="2350634"/>
            <a:ext cx="2094651" cy="279286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a:t>
            </a:r>
            <a:r>
              <a:rPr lang="en"/>
              <a:t> design plans	</a:t>
            </a:r>
            <a:endParaRPr/>
          </a:p>
        </p:txBody>
      </p:sp>
      <p:sp>
        <p:nvSpPr>
          <p:cNvPr id="201" name="Google Shape;20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Make </a:t>
            </a:r>
            <a:r>
              <a:rPr lang="en"/>
              <a:t>software</a:t>
            </a:r>
            <a:r>
              <a:rPr lang="en"/>
              <a:t> to upload </a:t>
            </a:r>
            <a:r>
              <a:rPr lang="en"/>
              <a:t>image</a:t>
            </a:r>
            <a:r>
              <a:rPr lang="en"/>
              <a:t> </a:t>
            </a:r>
            <a:r>
              <a:rPr lang="en"/>
              <a:t>from</a:t>
            </a:r>
            <a:r>
              <a:rPr lang="en"/>
              <a:t> your phone directly to the ESP32 </a:t>
            </a:r>
            <a:r>
              <a:rPr lang="en"/>
              <a:t>without</a:t>
            </a:r>
            <a:r>
              <a:rPr lang="en"/>
              <a:t> </a:t>
            </a:r>
            <a:r>
              <a:rPr lang="en"/>
              <a:t>reformatting</a:t>
            </a:r>
            <a:endParaRPr/>
          </a:p>
          <a:p>
            <a:pPr indent="-342900" lvl="0" marL="457200" rtl="0" algn="l">
              <a:spcBef>
                <a:spcPts val="0"/>
              </a:spcBef>
              <a:spcAft>
                <a:spcPts val="0"/>
              </a:spcAft>
              <a:buSzPts val="1800"/>
              <a:buChar char="-"/>
            </a:pPr>
            <a:r>
              <a:rPr lang="en"/>
              <a:t>Potting compound in the pommel and </a:t>
            </a:r>
            <a:r>
              <a:rPr lang="en"/>
              <a:t>battery</a:t>
            </a:r>
            <a:r>
              <a:rPr lang="en"/>
              <a:t> section for further impact </a:t>
            </a:r>
            <a:r>
              <a:rPr lang="en"/>
              <a:t>protection</a:t>
            </a:r>
            <a:endParaRPr/>
          </a:p>
          <a:p>
            <a:pPr indent="-342900" lvl="0" marL="457200" rtl="0" algn="l">
              <a:spcBef>
                <a:spcPts val="0"/>
              </a:spcBef>
              <a:spcAft>
                <a:spcPts val="0"/>
              </a:spcAft>
              <a:buSzPts val="1800"/>
              <a:buChar char="-"/>
            </a:pPr>
            <a:r>
              <a:rPr lang="en"/>
              <a:t>Move 3.3v connector pin away from ground to avoid bridging</a:t>
            </a:r>
            <a:endParaRPr/>
          </a:p>
          <a:p>
            <a:pPr indent="-342900" lvl="0" marL="457200" rtl="0" algn="l">
              <a:spcBef>
                <a:spcPts val="0"/>
              </a:spcBef>
              <a:spcAft>
                <a:spcPts val="0"/>
              </a:spcAft>
              <a:buSzPts val="1800"/>
              <a:buChar char="-"/>
            </a:pPr>
            <a:r>
              <a:rPr lang="en"/>
              <a:t>Reinforce the blade portion with steel wire or a squid pen</a:t>
            </a:r>
            <a:endParaRPr/>
          </a:p>
          <a:p>
            <a:pPr indent="-342900" lvl="0" marL="457200" rtl="0" algn="l">
              <a:spcBef>
                <a:spcPts val="0"/>
              </a:spcBef>
              <a:spcAft>
                <a:spcPts val="0"/>
              </a:spcAft>
              <a:buSzPts val="1800"/>
              <a:buChar char="-"/>
            </a:pPr>
            <a:r>
              <a:rPr lang="en"/>
              <a:t>Use 2 JST connectors for faster assembly (+ and - vs low current split) </a:t>
            </a:r>
            <a:endParaRPr/>
          </a:p>
          <a:p>
            <a:pPr indent="-342900" lvl="0" marL="457200" rtl="0" algn="l">
              <a:spcBef>
                <a:spcPts val="0"/>
              </a:spcBef>
              <a:spcAft>
                <a:spcPts val="0"/>
              </a:spcAft>
              <a:buSzPts val="1800"/>
              <a:buChar char="-"/>
            </a:pPr>
            <a:r>
              <a:rPr lang="en"/>
              <a:t>Injection mold tooling for faster build time</a:t>
            </a:r>
            <a:endParaRPr/>
          </a:p>
        </p:txBody>
      </p:sp>
      <p:pic>
        <p:nvPicPr>
          <p:cNvPr id="202" name="Google Shape;202;p31"/>
          <p:cNvPicPr preferRelativeResize="0"/>
          <p:nvPr/>
        </p:nvPicPr>
        <p:blipFill rotWithShape="1">
          <a:blip r:embed="rId3">
            <a:alphaModFix/>
          </a:blip>
          <a:srcRect b="18335" l="11218" r="52783" t="49103"/>
          <a:stretch/>
        </p:blipFill>
        <p:spPr>
          <a:xfrm>
            <a:off x="7638700" y="3648725"/>
            <a:ext cx="1535925" cy="1494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remarks / future plans</a:t>
            </a:r>
            <a:endParaRPr/>
          </a:p>
          <a:p>
            <a:pPr indent="0" lvl="0" marL="0" rtl="0" algn="l">
              <a:spcBef>
                <a:spcPts val="0"/>
              </a:spcBef>
              <a:spcAft>
                <a:spcPts val="0"/>
              </a:spcAft>
              <a:buNone/>
            </a:pPr>
            <a:r>
              <a:rPr lang="en"/>
              <a:t>	</a:t>
            </a:r>
            <a:endParaRPr/>
          </a:p>
        </p:txBody>
      </p:sp>
      <p:sp>
        <p:nvSpPr>
          <p:cNvPr id="208" name="Google Shape;208;p32"/>
          <p:cNvSpPr txBox="1"/>
          <p:nvPr>
            <p:ph idx="1" type="body"/>
          </p:nvPr>
        </p:nvSpPr>
        <p:spPr>
          <a:xfrm>
            <a:off x="311700" y="1152475"/>
            <a:ext cx="5435400" cy="3416400"/>
          </a:xfrm>
          <a:prstGeom prst="rect">
            <a:avLst/>
          </a:prstGeom>
        </p:spPr>
        <p:txBody>
          <a:bodyPr anchorCtr="0" anchor="t" bIns="91425" lIns="91425" spcFirstLastPara="1" rIns="91425" wrap="square" tIns="91425">
            <a:normAutofit fontScale="70000"/>
          </a:bodyPr>
          <a:lstStyle/>
          <a:p>
            <a:pPr indent="-308610" lvl="0" marL="457200" rtl="0" algn="l">
              <a:spcBef>
                <a:spcPts val="0"/>
              </a:spcBef>
              <a:spcAft>
                <a:spcPts val="0"/>
              </a:spcAft>
              <a:buSzPct val="100000"/>
              <a:buChar char="-"/>
            </a:pPr>
            <a:r>
              <a:rPr lang="en"/>
              <a:t>This project was something that I took from an idea stage </a:t>
            </a:r>
            <a:r>
              <a:rPr lang="en"/>
              <a:t>into a</a:t>
            </a:r>
            <a:r>
              <a:rPr lang="en"/>
              <a:t> </a:t>
            </a:r>
            <a:r>
              <a:rPr lang="en"/>
              <a:t>physical</a:t>
            </a:r>
            <a:r>
              <a:rPr lang="en"/>
              <a:t> </a:t>
            </a:r>
            <a:r>
              <a:rPr lang="en"/>
              <a:t>hardware</a:t>
            </a:r>
            <a:r>
              <a:rPr lang="en"/>
              <a:t> prototype that functions as I </a:t>
            </a:r>
            <a:r>
              <a:rPr lang="en"/>
              <a:t>imagined</a:t>
            </a:r>
            <a:r>
              <a:rPr lang="en"/>
              <a:t> it to</a:t>
            </a:r>
            <a:endParaRPr/>
          </a:p>
          <a:p>
            <a:pPr indent="-308610" lvl="0" marL="457200" rtl="0" algn="l">
              <a:spcBef>
                <a:spcPts val="0"/>
              </a:spcBef>
              <a:spcAft>
                <a:spcPts val="0"/>
              </a:spcAft>
              <a:buSzPct val="100000"/>
              <a:buChar char="-"/>
            </a:pPr>
            <a:r>
              <a:rPr lang="en"/>
              <a:t>D</a:t>
            </a:r>
            <a:r>
              <a:rPr lang="en"/>
              <a:t>emonstrates</a:t>
            </a:r>
            <a:r>
              <a:rPr lang="en"/>
              <a:t> my ability to </a:t>
            </a:r>
            <a:r>
              <a:rPr lang="en"/>
              <a:t>learn</a:t>
            </a:r>
            <a:r>
              <a:rPr lang="en"/>
              <a:t> new domains, </a:t>
            </a:r>
            <a:r>
              <a:rPr lang="en"/>
              <a:t>iterative</a:t>
            </a:r>
            <a:r>
              <a:rPr lang="en"/>
              <a:t> design, pro</a:t>
            </a:r>
            <a:r>
              <a:rPr lang="en"/>
              <a:t>blem solving and self directed</a:t>
            </a:r>
            <a:r>
              <a:rPr lang="en"/>
              <a:t> </a:t>
            </a:r>
            <a:r>
              <a:rPr lang="en"/>
              <a:t>learning</a:t>
            </a:r>
            <a:endParaRPr/>
          </a:p>
          <a:p>
            <a:pPr indent="-308610" lvl="0" marL="457200" rtl="0" algn="l">
              <a:spcBef>
                <a:spcPts val="0"/>
              </a:spcBef>
              <a:spcAft>
                <a:spcPts val="0"/>
              </a:spcAft>
              <a:buSzPct val="100000"/>
              <a:buChar char="-"/>
            </a:pPr>
            <a:r>
              <a:rPr lang="en"/>
              <a:t>I had to learn KiCad and soldering from scratch, relearn autodesk </a:t>
            </a:r>
            <a:r>
              <a:rPr lang="en"/>
              <a:t>fusion</a:t>
            </a:r>
            <a:r>
              <a:rPr lang="en"/>
              <a:t>, blender, and </a:t>
            </a:r>
            <a:r>
              <a:rPr lang="en"/>
              <a:t>arduino</a:t>
            </a:r>
            <a:r>
              <a:rPr lang="en"/>
              <a:t> IDE, I also had to learn how to </a:t>
            </a:r>
            <a:r>
              <a:rPr lang="en"/>
              <a:t>work</a:t>
            </a:r>
            <a:r>
              <a:rPr lang="en"/>
              <a:t> with manufacturers and test the parts </a:t>
            </a:r>
            <a:r>
              <a:rPr lang="en"/>
              <a:t>they</a:t>
            </a:r>
            <a:r>
              <a:rPr lang="en"/>
              <a:t> gave me.</a:t>
            </a:r>
            <a:endParaRPr/>
          </a:p>
          <a:p>
            <a:pPr indent="-308610" lvl="0" marL="457200" rtl="0" algn="l">
              <a:spcBef>
                <a:spcPts val="0"/>
              </a:spcBef>
              <a:spcAft>
                <a:spcPts val="0"/>
              </a:spcAft>
              <a:buSzPct val="100000"/>
              <a:buChar char="-"/>
            </a:pPr>
            <a:r>
              <a:rPr lang="en"/>
              <a:t>I’m proud of all my projects, most are showcased on my github at: Elijah-w15</a:t>
            </a:r>
            <a:endParaRPr/>
          </a:p>
          <a:p>
            <a:pPr indent="-308610" lvl="0" marL="457200" rtl="0" algn="l">
              <a:spcBef>
                <a:spcPts val="0"/>
              </a:spcBef>
              <a:spcAft>
                <a:spcPts val="0"/>
              </a:spcAft>
              <a:buSzPct val="100000"/>
              <a:buChar char="-"/>
            </a:pPr>
            <a:r>
              <a:rPr lang="en"/>
              <a:t>This </a:t>
            </a:r>
            <a:r>
              <a:rPr lang="en"/>
              <a:t>presentation</a:t>
            </a:r>
            <a:r>
              <a:rPr lang="en"/>
              <a:t> was </a:t>
            </a:r>
            <a:r>
              <a:rPr lang="en"/>
              <a:t>reformatted</a:t>
            </a:r>
            <a:r>
              <a:rPr lang="en"/>
              <a:t> for simplicity by Claude, if you would like to see the </a:t>
            </a:r>
            <a:r>
              <a:rPr lang="en"/>
              <a:t>original</a:t>
            </a:r>
            <a:r>
              <a:rPr lang="en"/>
              <a:t> and the prompts used it’s </a:t>
            </a:r>
            <a:r>
              <a:rPr lang="en"/>
              <a:t>available</a:t>
            </a:r>
            <a:r>
              <a:rPr lang="en"/>
              <a:t> on my github as “P</a:t>
            </a:r>
            <a:r>
              <a:rPr lang="en"/>
              <a:t>resentation</a:t>
            </a:r>
            <a:r>
              <a:rPr lang="en"/>
              <a:t>-</a:t>
            </a:r>
            <a:r>
              <a:rPr lang="en"/>
              <a:t>Original</a:t>
            </a:r>
            <a:r>
              <a:rPr lang="en"/>
              <a:t>”</a:t>
            </a:r>
            <a:endParaRPr/>
          </a:p>
          <a:p>
            <a:pPr indent="-308610" lvl="0" marL="457200" rtl="0" algn="l">
              <a:spcBef>
                <a:spcPts val="0"/>
              </a:spcBef>
              <a:spcAft>
                <a:spcPts val="0"/>
              </a:spcAft>
              <a:buSzPct val="100000"/>
              <a:buChar char="-"/>
            </a:pPr>
            <a:r>
              <a:rPr lang="en"/>
              <a:t>In the interview </a:t>
            </a:r>
            <a:r>
              <a:rPr lang="en"/>
              <a:t>portion</a:t>
            </a:r>
            <a:r>
              <a:rPr lang="en"/>
              <a:t> I would be </a:t>
            </a:r>
            <a:r>
              <a:rPr lang="en"/>
              <a:t>happy</a:t>
            </a:r>
            <a:r>
              <a:rPr lang="en"/>
              <a:t> to </a:t>
            </a:r>
            <a:r>
              <a:rPr lang="en"/>
              <a:t>answer</a:t>
            </a:r>
            <a:r>
              <a:rPr lang="en"/>
              <a:t> any questions you have about this </a:t>
            </a:r>
            <a:r>
              <a:rPr lang="en"/>
              <a:t>project</a:t>
            </a:r>
            <a:r>
              <a:rPr lang="en"/>
              <a:t> or </a:t>
            </a:r>
            <a:r>
              <a:rPr lang="en"/>
              <a:t>about</a:t>
            </a:r>
            <a:r>
              <a:rPr lang="en"/>
              <a:t> any of my other projects</a:t>
            </a:r>
            <a:endParaRPr/>
          </a:p>
        </p:txBody>
      </p:sp>
      <p:pic>
        <p:nvPicPr>
          <p:cNvPr id="209" name="Google Shape;209;p32"/>
          <p:cNvPicPr preferRelativeResize="0"/>
          <p:nvPr/>
        </p:nvPicPr>
        <p:blipFill rotWithShape="1">
          <a:blip r:embed="rId3">
            <a:alphaModFix/>
          </a:blip>
          <a:srcRect b="16616" l="13590" r="11408" t="12043"/>
          <a:stretch/>
        </p:blipFill>
        <p:spPr>
          <a:xfrm>
            <a:off x="5939100" y="1025950"/>
            <a:ext cx="2893202" cy="366944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 for your time. Any Questions?</a:t>
            </a:r>
            <a:endParaRPr/>
          </a:p>
        </p:txBody>
      </p:sp>
      <p:sp>
        <p:nvSpPr>
          <p:cNvPr id="215" name="Google Shape;21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